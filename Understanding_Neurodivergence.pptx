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12"/>
    <p:restoredTop sz="94610"/>
  </p:normalViewPr>
  <p:slideViewPr>
    <p:cSldViewPr snapToGrid="0" snapToObjects="1">
      <p:cViewPr varScale="1">
        <p:scale>
          <a:sx n="99" d="100"/>
          <a:sy n="99" d="100"/>
        </p:scale>
        <p:origin x="208" y="1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5776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aim is practical: how to recognise neurodivergence in the room, and how understanding it changes what we do clinically and what families are able to offer.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before any category language. The clinically useful question is not which label fits, but how this nervous system is wired and what that means for functioning and relationships.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signals that should prompt a second look. Ask students for their own examples of "subtly effortful" interactions — that one is the hardest to name in the moment.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presenting concern may be the cost of the person’s wiring interacting with demands, sensitivities, and environments that do not fit well.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Asynchrony is the concept to hold: advanced reasoning alongside age-typical regulation. Families and schools routinely read the gap as attitude rather than development.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is the point: attention is available but not reliably directable. Interest-based performance is what makes families conclude the difficulty is motivational.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is state-dependent. Before concluding that a strategy failed, ask what the sleep, food, sensory load and time of day were. Note the double edge of routine when anxiety or OCD is present.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rigidity as regulation — that single move changes how caregivers respond. Masking explains why the school report and the home report can describe two different people.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from the individual to the system. Self-understanding reduces shame; shared understanding changes how others interpret the same behaviour. Both are interventions.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cycles families arrive with. Point out the feedback loop: the response to misread behaviour is often what sustains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internal experience behind the behaviour. Closing question is the clinical stance for the rest of the lecture — behaviour as communication and as management.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the EFFT material: understanding wiring changes interpretation, which changes response. Emphasise the developmental shift from parent-led to collaborative, and that the goal is alignment, not dependence.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Compensation buys time and costs energy. High ability can delay identification for years, and the bill arrives as burnout rather than as a referral question.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this as a checklist for supervision. Any two or three of these together should prompt the closing question rather than a firmer version of the current formulation.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groups, ten to fifteen minutes, then debrief. Resist early labelling — the useful work is naming what else you would want to understand and which observations are being misread.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565D"/>
        </a:solidFill>
        <a:effectLst/>
      </p:bgPr>
    </p:bg>
    <p:spTree>
      <p:nvGrpSpPr>
        <p:cNvPr id="1" name=""/>
        <p:cNvGrpSpPr/>
        <p:nvPr/>
      </p:nvGrpSpPr>
      <p:grpSpPr>
        <a:xfrm>
          <a:off x="0" y="0"/>
          <a:ext cx="0" cy="0"/>
          <a:chOff x="0" y="0"/>
          <a:chExt cx="0" cy="0"/>
        </a:xfrm>
      </p:grpSpPr>
      <p:sp>
        <p:nvSpPr>
          <p:cNvPr id="2" name="Shape 0"/>
          <p:cNvSpPr/>
          <p:nvPr/>
        </p:nvSpPr>
        <p:spPr>
          <a:xfrm>
            <a:off x="12192000" y="0"/>
            <a:ext cx="6096000" cy="4114759"/>
          </a:xfrm>
          <a:prstGeom prst="rect">
            <a:avLst/>
          </a:prstGeom>
          <a:solidFill>
            <a:srgbClr val="0A3A41"/>
          </a:solidFill>
          <a:ln/>
        </p:spPr>
        <p:txBody>
          <a:bodyPr/>
          <a:lstStyle/>
          <a:p>
            <a:endParaRPr lang="en-US">
              <a:latin typeface="Georgia" panose="02040502050405020303" pitchFamily="18" charset="0"/>
            </a:endParaRPr>
          </a:p>
        </p:txBody>
      </p:sp>
      <p:sp>
        <p:nvSpPr>
          <p:cNvPr id="3" name="Shape 1"/>
          <p:cNvSpPr/>
          <p:nvPr/>
        </p:nvSpPr>
        <p:spPr>
          <a:xfrm>
            <a:off x="12192000" y="4114759"/>
            <a:ext cx="3657586" cy="3086086"/>
          </a:xfrm>
          <a:prstGeom prst="rect">
            <a:avLst/>
          </a:prstGeom>
          <a:solidFill>
            <a:srgbClr val="528B8E"/>
          </a:solidFill>
          <a:ln/>
        </p:spPr>
        <p:txBody>
          <a:bodyPr/>
          <a:lstStyle/>
          <a:p>
            <a:endParaRPr lang="en-US">
              <a:latin typeface="Georgia" panose="02040502050405020303" pitchFamily="18" charset="0"/>
            </a:endParaRPr>
          </a:p>
        </p:txBody>
      </p:sp>
      <p:sp>
        <p:nvSpPr>
          <p:cNvPr id="4" name="Shape 2"/>
          <p:cNvSpPr/>
          <p:nvPr/>
        </p:nvSpPr>
        <p:spPr>
          <a:xfrm>
            <a:off x="15849586" y="4114759"/>
            <a:ext cx="2438346" cy="3086086"/>
          </a:xfrm>
          <a:prstGeom prst="rect">
            <a:avLst/>
          </a:prstGeom>
          <a:solidFill>
            <a:srgbClr val="E4D6BA"/>
          </a:solidFill>
          <a:ln/>
        </p:spPr>
        <p:txBody>
          <a:bodyPr/>
          <a:lstStyle/>
          <a:p>
            <a:endParaRPr lang="en-US">
              <a:latin typeface="Georgia" panose="02040502050405020303" pitchFamily="18" charset="0"/>
            </a:endParaRPr>
          </a:p>
        </p:txBody>
      </p:sp>
      <p:sp>
        <p:nvSpPr>
          <p:cNvPr id="5" name="Shape 3"/>
          <p:cNvSpPr/>
          <p:nvPr/>
        </p:nvSpPr>
        <p:spPr>
          <a:xfrm>
            <a:off x="12192000" y="7200845"/>
            <a:ext cx="6096000" cy="3086086"/>
          </a:xfrm>
          <a:prstGeom prst="rect">
            <a:avLst/>
          </a:prstGeom>
          <a:solidFill>
            <a:srgbClr val="FFFFFF">
              <a:alpha val="90000"/>
            </a:srgbClr>
          </a:solidFill>
          <a:ln/>
        </p:spPr>
        <p:txBody>
          <a:bodyPr/>
          <a:lstStyle/>
          <a:p>
            <a:endParaRPr lang="en-US">
              <a:latin typeface="Georgia" panose="02040502050405020303" pitchFamily="18" charset="0"/>
            </a:endParaRPr>
          </a:p>
        </p:txBody>
      </p:sp>
      <p:sp>
        <p:nvSpPr>
          <p:cNvPr id="6" name="Shape 4"/>
          <p:cNvSpPr/>
          <p:nvPr/>
        </p:nvSpPr>
        <p:spPr>
          <a:xfrm>
            <a:off x="1143000" y="2199071"/>
            <a:ext cx="12192000" cy="5888858"/>
          </a:xfrm>
          <a:prstGeom prst="rect">
            <a:avLst/>
          </a:prstGeom>
          <a:solidFill>
            <a:srgbClr val="FFFFFF"/>
          </a:solidFill>
          <a:ln/>
        </p:spPr>
        <p:txBody>
          <a:bodyPr/>
          <a:lstStyle/>
          <a:p>
            <a:endParaRPr lang="en-US" sz="2400" dirty="0">
              <a:latin typeface="Georgia" panose="02040502050405020303" pitchFamily="18" charset="0"/>
            </a:endParaRPr>
          </a:p>
        </p:txBody>
      </p:sp>
      <p:sp>
        <p:nvSpPr>
          <p:cNvPr id="7" name="Shape 5"/>
          <p:cNvSpPr/>
          <p:nvPr/>
        </p:nvSpPr>
        <p:spPr>
          <a:xfrm>
            <a:off x="2095500" y="3193107"/>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8" name="Text 6"/>
          <p:cNvSpPr/>
          <p:nvPr/>
        </p:nvSpPr>
        <p:spPr>
          <a:xfrm>
            <a:off x="2800269" y="3079660"/>
            <a:ext cx="3133308" cy="293543"/>
          </a:xfrm>
          <a:prstGeom prst="rect">
            <a:avLst/>
          </a:prstGeom>
          <a:noFill/>
          <a:ln/>
        </p:spPr>
        <p:txBody>
          <a:bodyPr wrap="square" lIns="0" tIns="0" rIns="0" bIns="0" rtlCol="0" anchor="t">
            <a:normAutofit fontScale="85000" lnSpcReduction="100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GRADUATE LECTURE</a:t>
            </a:r>
            <a:endParaRPr lang="en-US" sz="1800" dirty="0">
              <a:latin typeface="Georgia" panose="02040502050405020303" pitchFamily="18" charset="0"/>
            </a:endParaRPr>
          </a:p>
        </p:txBody>
      </p:sp>
      <p:sp>
        <p:nvSpPr>
          <p:cNvPr id="9" name="Text 7"/>
          <p:cNvSpPr/>
          <p:nvPr/>
        </p:nvSpPr>
        <p:spPr>
          <a:xfrm>
            <a:off x="2095500" y="3587028"/>
            <a:ext cx="10595610" cy="2013184"/>
          </a:xfrm>
          <a:prstGeom prst="rect">
            <a:avLst/>
          </a:prstGeom>
          <a:noFill/>
          <a:ln/>
        </p:spPr>
        <p:txBody>
          <a:bodyPr wrap="square" lIns="25400" tIns="25400" rIns="25400" bIns="25400" rtlCol="0" anchor="t">
            <a:normAutofit lnSpcReduction="10000"/>
          </a:bodyPr>
          <a:lstStyle/>
          <a:p>
            <a:pPr marL="0" indent="0" algn="l">
              <a:lnSpc>
                <a:spcPct val="95040"/>
              </a:lnSpc>
              <a:buNone/>
            </a:pPr>
            <a:r>
              <a:rPr lang="en-US" sz="7200" kern="0" spc="-86" dirty="0">
                <a:solidFill>
                  <a:srgbClr val="1C2A2E"/>
                </a:solidFill>
                <a:latin typeface="Georgia" panose="02040502050405020303" pitchFamily="18" charset="0"/>
                <a:ea typeface="Georgia" pitchFamily="34" charset="-122"/>
                <a:cs typeface="Georgia" pitchFamily="34" charset="-120"/>
              </a:rPr>
              <a:t>Understanding Neurodivergence</a:t>
            </a:r>
            <a:endParaRPr lang="en-US" sz="7200" dirty="0">
              <a:latin typeface="Georgia" panose="02040502050405020303" pitchFamily="18" charset="0"/>
            </a:endParaRPr>
          </a:p>
        </p:txBody>
      </p:sp>
      <p:sp>
        <p:nvSpPr>
          <p:cNvPr id="10" name="Text 8"/>
          <p:cNvSpPr/>
          <p:nvPr/>
        </p:nvSpPr>
        <p:spPr>
          <a:xfrm>
            <a:off x="2095500" y="5752613"/>
            <a:ext cx="11315700" cy="514350"/>
          </a:xfrm>
          <a:prstGeom prst="rect">
            <a:avLst/>
          </a:prstGeom>
          <a:noFill/>
          <a:ln/>
        </p:spPr>
        <p:txBody>
          <a:bodyPr wrap="square" lIns="25400" tIns="25400" rIns="25400" bIns="25400" rtlCol="0" anchor="t">
            <a:normAutofit lnSpcReduction="10000"/>
          </a:bodyPr>
          <a:lstStyle/>
          <a:p>
            <a:pPr marL="0" indent="0" algn="l">
              <a:lnSpc>
                <a:spcPct val="110000"/>
              </a:lnSpc>
              <a:buNone/>
            </a:pPr>
            <a:r>
              <a:rPr lang="en-US" sz="3000" dirty="0">
                <a:solidFill>
                  <a:srgbClr val="1C565D"/>
                </a:solidFill>
                <a:latin typeface="Georgia" panose="02040502050405020303" pitchFamily="18" charset="0"/>
                <a:ea typeface="Georgia" pitchFamily="34" charset="-122"/>
                <a:cs typeface="Georgia" pitchFamily="34" charset="-120"/>
              </a:rPr>
              <a:t>In a Counselling and Family Context</a:t>
            </a:r>
            <a:endParaRPr lang="en-US" sz="3000" dirty="0">
              <a:latin typeface="Georgia" panose="02040502050405020303" pitchFamily="18" charset="0"/>
            </a:endParaRPr>
          </a:p>
        </p:txBody>
      </p:sp>
      <p:sp>
        <p:nvSpPr>
          <p:cNvPr id="11" name="Shape 9"/>
          <p:cNvSpPr/>
          <p:nvPr/>
        </p:nvSpPr>
        <p:spPr>
          <a:xfrm>
            <a:off x="2095500" y="6647949"/>
            <a:ext cx="10287000" cy="17318"/>
          </a:xfrm>
          <a:prstGeom prst="rect">
            <a:avLst/>
          </a:prstGeom>
          <a:solidFill>
            <a:srgbClr val="ADD3D5"/>
          </a:solidFill>
          <a:ln/>
        </p:spPr>
        <p:txBody>
          <a:bodyPr/>
          <a:lstStyle/>
          <a:p>
            <a:endParaRPr lang="en-US">
              <a:latin typeface="Georgia" panose="02040502050405020303" pitchFamily="18" charset="0"/>
            </a:endParaRPr>
          </a:p>
        </p:txBody>
      </p:sp>
      <p:sp>
        <p:nvSpPr>
          <p:cNvPr id="12" name="Text 10"/>
          <p:cNvSpPr/>
          <p:nvPr/>
        </p:nvSpPr>
        <p:spPr>
          <a:xfrm>
            <a:off x="2095499" y="6989104"/>
            <a:ext cx="4000501" cy="183193"/>
          </a:xfrm>
          <a:prstGeom prst="rect">
            <a:avLst/>
          </a:prstGeom>
          <a:noFill/>
          <a:ln/>
        </p:spPr>
        <p:txBody>
          <a:bodyPr wrap="square" lIns="25400" tIns="25400" rIns="25400" bIns="25400" rtlCol="0" anchor="t">
            <a:noAutofit/>
          </a:bodyPr>
          <a:lstStyle/>
          <a:p>
            <a:pPr marL="0" indent="0" algn="l">
              <a:buNone/>
            </a:pPr>
            <a:r>
              <a:rPr lang="en-US" sz="2800" dirty="0">
                <a:solidFill>
                  <a:srgbClr val="55676C"/>
                </a:solidFill>
                <a:latin typeface="Georgia" panose="02040502050405020303" pitchFamily="18" charset="0"/>
                <a:ea typeface="Arial" pitchFamily="34" charset="-122"/>
                <a:cs typeface="Arial" pitchFamily="34" charset="-120"/>
              </a:rPr>
              <a:t>Alison Bell, PhD, RCC</a:t>
            </a:r>
            <a:endParaRPr lang="en-US" sz="2800" dirty="0">
              <a:latin typeface="Georgia" panose="02040502050405020303" pitchFamily="18" charset="0"/>
            </a:endParaRPr>
          </a:p>
        </p:txBody>
      </p:sp>
      <p:sp>
        <p:nvSpPr>
          <p:cNvPr id="13" name="Text 11"/>
          <p:cNvSpPr/>
          <p:nvPr/>
        </p:nvSpPr>
        <p:spPr>
          <a:xfrm>
            <a:off x="4788409" y="6989104"/>
            <a:ext cx="135258" cy="336839"/>
          </a:xfrm>
          <a:prstGeom prst="rect">
            <a:avLst/>
          </a:prstGeom>
          <a:noFill/>
          <a:ln/>
        </p:spPr>
        <p:txBody>
          <a:bodyPr wrap="square" lIns="25400" tIns="25400" rIns="25400" bIns="25400" rtlCol="0" anchor="t">
            <a:normAutofit lnSpcReduction="10000"/>
          </a:bodyPr>
          <a:lstStyle/>
          <a:p>
            <a:pPr marL="0" indent="0" algn="l">
              <a:buNone/>
            </a:pPr>
            <a:endParaRPr lang="en-US" sz="2025" dirty="0">
              <a:latin typeface="Georgia" panose="020405020504050203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66673" cy="10287000"/>
          </a:xfrm>
          <a:prstGeom prst="rect">
            <a:avLst/>
          </a:prstGeom>
          <a:solidFill>
            <a:srgbClr val="1C565D"/>
          </a:solidFill>
          <a:ln/>
        </p:spPr>
        <p:txBody>
          <a:bodyPr/>
          <a:lstStyle/>
          <a:p>
            <a:endParaRPr lang="en-US">
              <a:latin typeface="Georgia" panose="02040502050405020303" pitchFamily="18" charset="0"/>
            </a:endParaRPr>
          </a:p>
        </p:txBody>
      </p:sp>
      <p:sp>
        <p:nvSpPr>
          <p:cNvPr id="3" name="Shape 1"/>
          <p:cNvSpPr/>
          <p:nvPr/>
        </p:nvSpPr>
        <p:spPr>
          <a:xfrm>
            <a:off x="0" y="0"/>
            <a:ext cx="266673" cy="3394702"/>
          </a:xfrm>
          <a:prstGeom prst="rect">
            <a:avLst/>
          </a:prstGeom>
          <a:solidFill>
            <a:srgbClr val="528B8E"/>
          </a:solidFill>
          <a:ln/>
        </p:spPr>
        <p:txBody>
          <a:bodyPr/>
          <a:lstStyle/>
          <a:p>
            <a:endParaRPr lang="en-US">
              <a:latin typeface="Georgia" panose="02040502050405020303" pitchFamily="18" charset="0"/>
            </a:endParaRPr>
          </a:p>
        </p:txBody>
      </p:sp>
      <p:sp>
        <p:nvSpPr>
          <p:cNvPr id="4" name="Shape 2"/>
          <p:cNvSpPr/>
          <p:nvPr/>
        </p:nvSpPr>
        <p:spPr>
          <a:xfrm>
            <a:off x="1143000" y="994037"/>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5" name="Text 3"/>
          <p:cNvSpPr/>
          <p:nvPr/>
        </p:nvSpPr>
        <p:spPr>
          <a:xfrm>
            <a:off x="1847769" y="880589"/>
            <a:ext cx="1418291" cy="293543"/>
          </a:xfrm>
          <a:prstGeom prst="rect">
            <a:avLst/>
          </a:prstGeom>
          <a:noFill/>
          <a:ln/>
        </p:spPr>
        <p:txBody>
          <a:bodyPr wrap="square" lIns="0" tIns="0" rIns="0" bIns="0" rtlCol="0" anchor="t">
            <a:normAutofit fontScale="85000" lnSpcReduction="100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FRAMING</a:t>
            </a:r>
            <a:endParaRPr lang="en-US" sz="1800" dirty="0">
              <a:latin typeface="Georgia" panose="02040502050405020303" pitchFamily="18" charset="0"/>
            </a:endParaRPr>
          </a:p>
        </p:txBody>
      </p:sp>
      <p:sp>
        <p:nvSpPr>
          <p:cNvPr id="6" name="Text 4"/>
          <p:cNvSpPr/>
          <p:nvPr/>
        </p:nvSpPr>
        <p:spPr>
          <a:xfrm>
            <a:off x="1143000" y="1387958"/>
            <a:ext cx="16554450" cy="646131"/>
          </a:xfrm>
          <a:prstGeom prst="rect">
            <a:avLst/>
          </a:prstGeom>
          <a:noFill/>
          <a:ln/>
        </p:spPr>
        <p:txBody>
          <a:bodyPr wrap="square" lIns="25400" tIns="25400" rIns="25400" bIns="25400" rtlCol="0" anchor="t">
            <a:normAutofit lnSpcReduction="10000"/>
          </a:bodyPr>
          <a:lstStyle/>
          <a:p>
            <a:pPr marL="0" indent="0" algn="l">
              <a:lnSpc>
                <a:spcPct val="100320"/>
              </a:lnSpc>
              <a:buNone/>
            </a:pPr>
            <a:r>
              <a:rPr lang="en-US" sz="4200" kern="0" spc="-34" dirty="0">
                <a:solidFill>
                  <a:srgbClr val="1C2A2E"/>
                </a:solidFill>
                <a:latin typeface="Georgia" panose="02040502050405020303" pitchFamily="18" charset="0"/>
                <a:ea typeface="Georgia" pitchFamily="34" charset="-122"/>
                <a:cs typeface="Georgia" pitchFamily="34" charset="-120"/>
              </a:rPr>
              <a:t>Neurodivergence: A Broader Lens</a:t>
            </a:r>
            <a:endParaRPr lang="en-US" sz="4200" dirty="0">
              <a:latin typeface="Georgia" panose="02040502050405020303" pitchFamily="18" charset="0"/>
            </a:endParaRPr>
          </a:p>
        </p:txBody>
      </p:sp>
      <p:sp>
        <p:nvSpPr>
          <p:cNvPr id="7" name="Shape 5"/>
          <p:cNvSpPr/>
          <p:nvPr/>
        </p:nvSpPr>
        <p:spPr>
          <a:xfrm>
            <a:off x="1143000" y="2415075"/>
            <a:ext cx="56284" cy="829108"/>
          </a:xfrm>
          <a:prstGeom prst="rect">
            <a:avLst/>
          </a:prstGeom>
          <a:solidFill>
            <a:srgbClr val="1C565D"/>
          </a:solidFill>
          <a:ln/>
        </p:spPr>
        <p:txBody>
          <a:bodyPr/>
          <a:lstStyle/>
          <a:p>
            <a:endParaRPr lang="en-US">
              <a:latin typeface="Georgia" panose="02040502050405020303" pitchFamily="18" charset="0"/>
            </a:endParaRPr>
          </a:p>
        </p:txBody>
      </p:sp>
      <p:sp>
        <p:nvSpPr>
          <p:cNvPr id="8" name="Text 6"/>
          <p:cNvSpPr/>
          <p:nvPr/>
        </p:nvSpPr>
        <p:spPr>
          <a:xfrm>
            <a:off x="1504084" y="2415075"/>
            <a:ext cx="15315560" cy="867208"/>
          </a:xfrm>
          <a:prstGeom prst="rect">
            <a:avLst/>
          </a:prstGeom>
          <a:noFill/>
          <a:ln/>
        </p:spPr>
        <p:txBody>
          <a:bodyPr wrap="square" lIns="25400" tIns="25400" rIns="25400" bIns="25400" rtlCol="0" anchor="t">
            <a:normAutofit lnSpcReduction="10000"/>
          </a:bodyPr>
          <a:lstStyle/>
          <a:p>
            <a:pPr marL="0" indent="0" algn="l">
              <a:lnSpc>
                <a:spcPct val="118202"/>
              </a:lnSpc>
              <a:buNone/>
            </a:pPr>
            <a:r>
              <a:rPr lang="en-US" sz="2400" dirty="0">
                <a:solidFill>
                  <a:srgbClr val="1C2A2E"/>
                </a:solidFill>
                <a:latin typeface="Georgia" panose="02040502050405020303" pitchFamily="18" charset="0"/>
                <a:ea typeface="Arial" pitchFamily="34" charset="-122"/>
                <a:cs typeface="Arial" pitchFamily="34" charset="-120"/>
              </a:rPr>
              <a:t>Neurodivergence refers to differences in the way the brain develops, processes information, regulates, learns, communicates, and responds to the environment</a:t>
            </a:r>
            <a:endParaRPr lang="en-US" sz="2400" dirty="0">
              <a:latin typeface="Georgia" panose="02040502050405020303" pitchFamily="18" charset="0"/>
            </a:endParaRPr>
          </a:p>
        </p:txBody>
      </p:sp>
      <p:sp>
        <p:nvSpPr>
          <p:cNvPr id="10" name="Text 8"/>
          <p:cNvSpPr/>
          <p:nvPr/>
        </p:nvSpPr>
        <p:spPr>
          <a:xfrm>
            <a:off x="1755496" y="3786633"/>
            <a:ext cx="14777008" cy="4568997"/>
          </a:xfrm>
          <a:prstGeom prst="rect">
            <a:avLst/>
          </a:prstGeom>
          <a:noFill/>
          <a:ln/>
        </p:spPr>
        <p:txBody>
          <a:bodyPr wrap="square" lIns="0" tIns="0" rIns="0" bIns="0" rtlCol="0" anchor="t">
            <a:normAutofit/>
          </a:bodyPr>
          <a:lstStyle/>
          <a:p>
            <a:pPr marL="342900" indent="-342900" algn="l">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These differences may show up in attention and executive functioning, sensory processing, emotional regulation and intensity, learning and information processing, communication, and social experience</a:t>
            </a:r>
          </a:p>
          <a:p>
            <a:pPr marL="342900" indent="-342900">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Strengths and vulnerabilities often coexist</a:t>
            </a:r>
          </a:p>
          <a:p>
            <a:pPr marL="342900" indent="-342900">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There is no single neurodivergent presentation</a:t>
            </a:r>
          </a:p>
          <a:p>
            <a:pPr marL="342900" indent="-342900">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The goal is not to view difference only through a deficit lens, but to understand how the person’s nervous system is wired and what that means for functioning, relationships, and support</a:t>
            </a:r>
            <a:endParaRPr lang="en-US" sz="2400" dirty="0">
              <a:latin typeface="Georgia" panose="02040502050405020303" pitchFamily="18" charset="0"/>
            </a:endParaRPr>
          </a:p>
        </p:txBody>
      </p:sp>
      <p:sp>
        <p:nvSpPr>
          <p:cNvPr id="17" name="Text 15"/>
          <p:cNvSpPr/>
          <p:nvPr/>
        </p:nvSpPr>
        <p:spPr>
          <a:xfrm>
            <a:off x="1143000" y="9565724"/>
            <a:ext cx="8725123" cy="302202"/>
          </a:xfrm>
          <a:prstGeom prst="rect">
            <a:avLst/>
          </a:prstGeom>
          <a:noFill/>
          <a:ln/>
        </p:spPr>
        <p:txBody>
          <a:bodyPr wrap="none" lIns="25400" tIns="25400" rIns="25400" bIns="25400" rtlCol="0" anchor="t">
            <a:normAutofit lnSpcReduction="10000"/>
          </a:bodyPr>
          <a:lstStyle/>
          <a:p>
            <a:pPr marL="0" indent="0" algn="l">
              <a:buNone/>
            </a:pPr>
            <a:r>
              <a:rPr lang="en-US" sz="1800" b="1" kern="0" spc="72" dirty="0">
                <a:solidFill>
                  <a:srgbClr val="55676C"/>
                </a:solidFill>
                <a:latin typeface="Georgia" panose="02040502050405020303" pitchFamily="18" charset="0"/>
                <a:ea typeface="Arial" pitchFamily="34" charset="-122"/>
                <a:cs typeface="Arial" pitchFamily="34" charset="-120"/>
              </a:rPr>
              <a:t>Understanding Neurodivergence — In a Counselling and Family Context</a:t>
            </a:r>
            <a:endParaRPr lang="en-US" sz="1800" dirty="0">
              <a:latin typeface="Georgia" panose="02040502050405020303" pitchFamily="18" charset="0"/>
            </a:endParaRPr>
          </a:p>
        </p:txBody>
      </p:sp>
      <p:sp>
        <p:nvSpPr>
          <p:cNvPr id="18" name="Shape 16"/>
          <p:cNvSpPr/>
          <p:nvPr/>
        </p:nvSpPr>
        <p:spPr>
          <a:xfrm>
            <a:off x="16624777" y="9640612"/>
            <a:ext cx="114259" cy="114259"/>
          </a:xfrm>
          <a:prstGeom prst="rect">
            <a:avLst/>
          </a:prstGeom>
          <a:solidFill>
            <a:srgbClr val="1C565D"/>
          </a:solidFill>
          <a:ln/>
        </p:spPr>
        <p:txBody>
          <a:bodyPr/>
          <a:lstStyle/>
          <a:p>
            <a:endParaRPr lang="en-US">
              <a:latin typeface="Georgia" panose="02040502050405020303" pitchFamily="18" charset="0"/>
            </a:endParaRPr>
          </a:p>
        </p:txBody>
      </p:sp>
      <p:sp>
        <p:nvSpPr>
          <p:cNvPr id="19" name="Text 17"/>
          <p:cNvSpPr/>
          <p:nvPr/>
        </p:nvSpPr>
        <p:spPr>
          <a:xfrm>
            <a:off x="16872374" y="9570054"/>
            <a:ext cx="348825" cy="293543"/>
          </a:xfrm>
          <a:prstGeom prst="rect">
            <a:avLst/>
          </a:prstGeom>
          <a:noFill/>
          <a:ln/>
        </p:spPr>
        <p:txBody>
          <a:bodyPr wrap="none" lIns="0" tIns="0" rIns="0" bIns="0" rtlCol="0" anchor="t">
            <a:normAutofit/>
          </a:bodyPr>
          <a:lstStyle/>
          <a:p>
            <a:pPr marL="0" indent="0" algn="l">
              <a:buNone/>
            </a:pPr>
            <a:r>
              <a:rPr lang="en-US" sz="1800" b="1" kern="0" spc="72" dirty="0">
                <a:solidFill>
                  <a:srgbClr val="1C565D"/>
                </a:solidFill>
                <a:latin typeface="Georgia" panose="02040502050405020303" pitchFamily="18" charset="0"/>
                <a:ea typeface="Arial" pitchFamily="34" charset="-122"/>
                <a:cs typeface="Arial" pitchFamily="34" charset="-120"/>
              </a:rPr>
              <a:t>02</a:t>
            </a:r>
            <a:endParaRPr lang="en-US" sz="1800" dirty="0">
              <a:latin typeface="Georgia" panose="020405020504050203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266673" cy="10287000"/>
          </a:xfrm>
          <a:prstGeom prst="rect">
            <a:avLst/>
          </a:prstGeom>
          <a:solidFill>
            <a:srgbClr val="1C565D"/>
          </a:solidFill>
          <a:ln/>
        </p:spPr>
        <p:txBody>
          <a:bodyPr/>
          <a:lstStyle/>
          <a:p>
            <a:endParaRPr lang="en-US">
              <a:latin typeface="Georgia" panose="02040502050405020303" pitchFamily="18" charset="0"/>
            </a:endParaRPr>
          </a:p>
        </p:txBody>
      </p:sp>
      <p:sp>
        <p:nvSpPr>
          <p:cNvPr id="3" name="Shape 1"/>
          <p:cNvSpPr/>
          <p:nvPr/>
        </p:nvSpPr>
        <p:spPr>
          <a:xfrm>
            <a:off x="0" y="0"/>
            <a:ext cx="266673" cy="3394702"/>
          </a:xfrm>
          <a:prstGeom prst="rect">
            <a:avLst/>
          </a:prstGeom>
          <a:solidFill>
            <a:srgbClr val="528B8E"/>
          </a:solidFill>
          <a:ln/>
        </p:spPr>
        <p:txBody>
          <a:bodyPr/>
          <a:lstStyle/>
          <a:p>
            <a:endParaRPr lang="en-US">
              <a:latin typeface="Georgia" panose="02040502050405020303" pitchFamily="18" charset="0"/>
            </a:endParaRPr>
          </a:p>
        </p:txBody>
      </p:sp>
      <p:sp>
        <p:nvSpPr>
          <p:cNvPr id="4" name="Shape 2"/>
          <p:cNvSpPr/>
          <p:nvPr/>
        </p:nvSpPr>
        <p:spPr>
          <a:xfrm>
            <a:off x="1143000" y="994037"/>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5" name="Text 3"/>
          <p:cNvSpPr/>
          <p:nvPr/>
        </p:nvSpPr>
        <p:spPr>
          <a:xfrm>
            <a:off x="1847769" y="880589"/>
            <a:ext cx="2815434" cy="293543"/>
          </a:xfrm>
          <a:prstGeom prst="rect">
            <a:avLst/>
          </a:prstGeom>
          <a:noFill/>
          <a:ln/>
        </p:spPr>
        <p:txBody>
          <a:bodyPr wrap="square" lIns="0" tIns="0" rIns="0" bIns="0" rtlCol="0" anchor="t">
            <a:normAutofit fontScale="85000" lnSpcReduction="100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CLINICAL SIGNALS</a:t>
            </a:r>
            <a:endParaRPr lang="en-US" sz="1800" dirty="0">
              <a:latin typeface="Georgia" panose="02040502050405020303" pitchFamily="18" charset="0"/>
            </a:endParaRPr>
          </a:p>
        </p:txBody>
      </p:sp>
      <p:sp>
        <p:nvSpPr>
          <p:cNvPr id="6" name="Text 4"/>
          <p:cNvSpPr/>
          <p:nvPr/>
        </p:nvSpPr>
        <p:spPr>
          <a:xfrm>
            <a:off x="1143000" y="1387958"/>
            <a:ext cx="16554450" cy="646131"/>
          </a:xfrm>
          <a:prstGeom prst="rect">
            <a:avLst/>
          </a:prstGeom>
          <a:noFill/>
          <a:ln/>
        </p:spPr>
        <p:txBody>
          <a:bodyPr wrap="square" lIns="25400" tIns="25400" rIns="25400" bIns="25400" rtlCol="0" anchor="t">
            <a:normAutofit lnSpcReduction="10000"/>
          </a:bodyPr>
          <a:lstStyle/>
          <a:p>
            <a:pPr marL="0" indent="0" algn="l">
              <a:lnSpc>
                <a:spcPct val="100320"/>
              </a:lnSpc>
              <a:buNone/>
            </a:pPr>
            <a:r>
              <a:rPr lang="en-US" sz="4200" kern="0" spc="-34" dirty="0">
                <a:solidFill>
                  <a:srgbClr val="1C2A2E"/>
                </a:solidFill>
                <a:latin typeface="Georgia" panose="02040502050405020303" pitchFamily="18" charset="0"/>
                <a:ea typeface="Georgia" pitchFamily="34" charset="-122"/>
                <a:cs typeface="Georgia" pitchFamily="34" charset="-120"/>
              </a:rPr>
              <a:t>When Something Just Feels Different</a:t>
            </a:r>
            <a:endParaRPr lang="en-US" sz="4200" dirty="0">
              <a:latin typeface="Georgia" panose="02040502050405020303" pitchFamily="18" charset="0"/>
            </a:endParaRPr>
          </a:p>
        </p:txBody>
      </p:sp>
      <p:sp>
        <p:nvSpPr>
          <p:cNvPr id="7" name="Text 5"/>
          <p:cNvSpPr/>
          <p:nvPr/>
        </p:nvSpPr>
        <p:spPr>
          <a:xfrm>
            <a:off x="1143000" y="2243584"/>
            <a:ext cx="17602200" cy="434321"/>
          </a:xfrm>
          <a:prstGeom prst="rect">
            <a:avLst/>
          </a:prstGeom>
          <a:noFill/>
          <a:ln/>
        </p:spPr>
        <p:txBody>
          <a:bodyPr wrap="square" lIns="25400" tIns="25400" rIns="25400" bIns="25400" rtlCol="0" anchor="t">
            <a:normAutofit/>
          </a:bodyPr>
          <a:lstStyle/>
          <a:p>
            <a:pPr marL="0" indent="0" algn="l">
              <a:lnSpc>
                <a:spcPct val="114400"/>
              </a:lnSpc>
              <a:buNone/>
            </a:pPr>
            <a:r>
              <a:rPr lang="en-US" sz="2400" dirty="0">
                <a:solidFill>
                  <a:srgbClr val="55676C"/>
                </a:solidFill>
                <a:latin typeface="Georgia" panose="02040502050405020303" pitchFamily="18" charset="0"/>
                <a:ea typeface="Georgia" pitchFamily="34" charset="-122"/>
                <a:cs typeface="Georgia" pitchFamily="34" charset="-120"/>
              </a:rPr>
              <a:t>What might be showing up in the session…</a:t>
            </a:r>
            <a:endParaRPr lang="en-US" sz="2400" dirty="0">
              <a:latin typeface="Georgia" panose="02040502050405020303" pitchFamily="18" charset="0"/>
            </a:endParaRPr>
          </a:p>
        </p:txBody>
      </p:sp>
      <p:sp>
        <p:nvSpPr>
          <p:cNvPr id="8" name="Shape 6"/>
          <p:cNvSpPr/>
          <p:nvPr/>
        </p:nvSpPr>
        <p:spPr>
          <a:xfrm>
            <a:off x="1143000" y="3653449"/>
            <a:ext cx="3829009" cy="3247497"/>
          </a:xfrm>
          <a:prstGeom prst="rect">
            <a:avLst/>
          </a:prstGeom>
          <a:solidFill>
            <a:srgbClr val="FFFFFF"/>
          </a:solidFill>
          <a:ln/>
        </p:spPr>
        <p:txBody>
          <a:bodyPr/>
          <a:lstStyle/>
          <a:p>
            <a:endParaRPr lang="en-US">
              <a:latin typeface="Georgia" panose="02040502050405020303" pitchFamily="18" charset="0"/>
            </a:endParaRPr>
          </a:p>
        </p:txBody>
      </p:sp>
      <p:sp>
        <p:nvSpPr>
          <p:cNvPr id="9" name="Shape 7"/>
          <p:cNvSpPr/>
          <p:nvPr/>
        </p:nvSpPr>
        <p:spPr>
          <a:xfrm>
            <a:off x="1143000" y="3653449"/>
            <a:ext cx="3829009" cy="56284"/>
          </a:xfrm>
          <a:prstGeom prst="rect">
            <a:avLst/>
          </a:prstGeom>
          <a:solidFill>
            <a:srgbClr val="1C565D"/>
          </a:solidFill>
          <a:ln/>
        </p:spPr>
        <p:txBody>
          <a:bodyPr/>
          <a:lstStyle/>
          <a:p>
            <a:endParaRPr lang="en-US">
              <a:latin typeface="Georgia" panose="02040502050405020303" pitchFamily="18" charset="0"/>
            </a:endParaRPr>
          </a:p>
        </p:txBody>
      </p:sp>
      <p:sp>
        <p:nvSpPr>
          <p:cNvPr id="10" name="Text 8"/>
          <p:cNvSpPr/>
          <p:nvPr/>
        </p:nvSpPr>
        <p:spPr>
          <a:xfrm>
            <a:off x="1416407" y="4278370"/>
            <a:ext cx="3583260" cy="413688"/>
          </a:xfrm>
          <a:prstGeom prst="rect">
            <a:avLst/>
          </a:prstGeom>
          <a:noFill/>
          <a:ln/>
        </p:spPr>
        <p:txBody>
          <a:bodyPr wrap="square" lIns="25400" tIns="25400" rIns="25400" bIns="25400" rtlCol="0" anchor="t">
            <a:normAutofit lnSpcReduction="10000"/>
          </a:bodyPr>
          <a:lstStyle/>
          <a:p>
            <a:pPr marL="0" indent="0" algn="l">
              <a:lnSpc>
                <a:spcPct val="102080"/>
              </a:lnSpc>
              <a:buNone/>
            </a:pPr>
            <a:r>
              <a:rPr lang="en-US" sz="2550" b="1" dirty="0">
                <a:solidFill>
                  <a:srgbClr val="1C565D"/>
                </a:solidFill>
                <a:latin typeface="Georgia" panose="02040502050405020303" pitchFamily="18" charset="0"/>
                <a:ea typeface="Georgia" pitchFamily="34" charset="-122"/>
                <a:cs typeface="Georgia" pitchFamily="34" charset="-120"/>
              </a:rPr>
              <a:t>The individual</a:t>
            </a:r>
            <a:endParaRPr lang="en-US" sz="2550" dirty="0">
              <a:latin typeface="Georgia" panose="02040502050405020303" pitchFamily="18" charset="0"/>
            </a:endParaRPr>
          </a:p>
        </p:txBody>
      </p:sp>
      <p:sp>
        <p:nvSpPr>
          <p:cNvPr id="11" name="Text 9"/>
          <p:cNvSpPr/>
          <p:nvPr/>
        </p:nvSpPr>
        <p:spPr>
          <a:xfrm>
            <a:off x="1416407" y="5106087"/>
            <a:ext cx="3355235" cy="701738"/>
          </a:xfrm>
          <a:prstGeom prst="rect">
            <a:avLst/>
          </a:prstGeom>
          <a:noFill/>
          <a:ln/>
        </p:spPr>
        <p:txBody>
          <a:bodyPr wrap="square" lIns="25400" tIns="25400" rIns="25400" bIns="25400" rtlCol="0" anchor="t">
            <a:normAutofit lnSpcReduction="10000"/>
          </a:bodyPr>
          <a:lstStyle/>
          <a:p>
            <a:pPr marL="0" indent="0" algn="l">
              <a:lnSpc>
                <a:spcPct val="116133"/>
              </a:lnSpc>
              <a:buNone/>
            </a:pPr>
            <a:r>
              <a:rPr lang="en-US" sz="1950" dirty="0">
                <a:solidFill>
                  <a:srgbClr val="55676C"/>
                </a:solidFill>
                <a:latin typeface="Georgia" panose="02040502050405020303" pitchFamily="18" charset="0"/>
                <a:ea typeface="Arial" pitchFamily="34" charset="-122"/>
                <a:cs typeface="Arial" pitchFamily="34" charset="-120"/>
              </a:rPr>
              <a:t>uneven capacity • intensity • unexpected vulnerability</a:t>
            </a:r>
            <a:endParaRPr lang="en-US" sz="1950" dirty="0">
              <a:latin typeface="Georgia" panose="02040502050405020303" pitchFamily="18" charset="0"/>
            </a:endParaRPr>
          </a:p>
        </p:txBody>
      </p:sp>
      <p:sp>
        <p:nvSpPr>
          <p:cNvPr id="12" name="Shape 10"/>
          <p:cNvSpPr/>
          <p:nvPr/>
        </p:nvSpPr>
        <p:spPr>
          <a:xfrm>
            <a:off x="5200596" y="3653449"/>
            <a:ext cx="3829077" cy="3247497"/>
          </a:xfrm>
          <a:prstGeom prst="rect">
            <a:avLst/>
          </a:prstGeom>
          <a:solidFill>
            <a:srgbClr val="FFFFFF"/>
          </a:solidFill>
          <a:ln/>
        </p:spPr>
        <p:txBody>
          <a:bodyPr/>
          <a:lstStyle/>
          <a:p>
            <a:endParaRPr lang="en-US">
              <a:latin typeface="Georgia" panose="02040502050405020303" pitchFamily="18" charset="0"/>
            </a:endParaRPr>
          </a:p>
        </p:txBody>
      </p:sp>
      <p:sp>
        <p:nvSpPr>
          <p:cNvPr id="13" name="Shape 11"/>
          <p:cNvSpPr/>
          <p:nvPr/>
        </p:nvSpPr>
        <p:spPr>
          <a:xfrm>
            <a:off x="5200596" y="3653449"/>
            <a:ext cx="3829077" cy="56284"/>
          </a:xfrm>
          <a:prstGeom prst="rect">
            <a:avLst/>
          </a:prstGeom>
          <a:solidFill>
            <a:srgbClr val="1C565D"/>
          </a:solidFill>
          <a:ln/>
        </p:spPr>
        <p:txBody>
          <a:bodyPr/>
          <a:lstStyle/>
          <a:p>
            <a:endParaRPr lang="en-US">
              <a:latin typeface="Georgia" panose="02040502050405020303" pitchFamily="18" charset="0"/>
            </a:endParaRPr>
          </a:p>
        </p:txBody>
      </p:sp>
      <p:sp>
        <p:nvSpPr>
          <p:cNvPr id="14" name="Text 12"/>
          <p:cNvSpPr/>
          <p:nvPr/>
        </p:nvSpPr>
        <p:spPr>
          <a:xfrm>
            <a:off x="5536597" y="4111765"/>
            <a:ext cx="3157073" cy="729468"/>
          </a:xfrm>
          <a:prstGeom prst="rect">
            <a:avLst/>
          </a:prstGeom>
          <a:noFill/>
          <a:ln/>
        </p:spPr>
        <p:txBody>
          <a:bodyPr wrap="square" lIns="25400" tIns="25400" rIns="25400" bIns="25400" rtlCol="0" anchor="t">
            <a:normAutofit fontScale="92500" lnSpcReduction="10000"/>
          </a:bodyPr>
          <a:lstStyle/>
          <a:p>
            <a:pPr marL="0" indent="0" algn="l">
              <a:lnSpc>
                <a:spcPct val="102080"/>
              </a:lnSpc>
              <a:buNone/>
            </a:pPr>
            <a:r>
              <a:rPr lang="en-US" sz="2550" b="1" dirty="0">
                <a:solidFill>
                  <a:srgbClr val="1C565D"/>
                </a:solidFill>
                <a:latin typeface="Georgia" panose="02040502050405020303" pitchFamily="18" charset="0"/>
                <a:ea typeface="Georgia" pitchFamily="34" charset="-122"/>
                <a:cs typeface="Georgia" pitchFamily="34" charset="-120"/>
              </a:rPr>
              <a:t>Emotional processing</a:t>
            </a:r>
            <a:endParaRPr lang="en-US" sz="2550" dirty="0">
              <a:latin typeface="Georgia" panose="02040502050405020303" pitchFamily="18" charset="0"/>
            </a:endParaRPr>
          </a:p>
        </p:txBody>
      </p:sp>
      <p:sp>
        <p:nvSpPr>
          <p:cNvPr id="15" name="Text 13"/>
          <p:cNvSpPr/>
          <p:nvPr/>
        </p:nvSpPr>
        <p:spPr>
          <a:xfrm>
            <a:off x="5486346" y="5043030"/>
            <a:ext cx="3355304" cy="1033557"/>
          </a:xfrm>
          <a:prstGeom prst="rect">
            <a:avLst/>
          </a:prstGeom>
          <a:noFill/>
          <a:ln/>
        </p:spPr>
        <p:txBody>
          <a:bodyPr wrap="square" lIns="25400" tIns="25400" rIns="25400" bIns="25400" rtlCol="0" anchor="t">
            <a:normAutofit lnSpcReduction="10000"/>
          </a:bodyPr>
          <a:lstStyle/>
          <a:p>
            <a:pPr marL="0" indent="0" algn="l">
              <a:lnSpc>
                <a:spcPct val="116133"/>
              </a:lnSpc>
              <a:buNone/>
            </a:pPr>
            <a:r>
              <a:rPr lang="en-US" sz="1950" dirty="0">
                <a:solidFill>
                  <a:srgbClr val="55676C"/>
                </a:solidFill>
                <a:latin typeface="Georgia" panose="02040502050405020303" pitchFamily="18" charset="0"/>
                <a:ea typeface="Arial" pitchFamily="34" charset="-122"/>
                <a:cs typeface="Arial" pitchFamily="34" charset="-120"/>
              </a:rPr>
              <a:t>overwhelm • difficulty identifying or expressing feelings • slower recovery</a:t>
            </a:r>
            <a:endParaRPr lang="en-US" sz="1950" dirty="0">
              <a:latin typeface="Georgia" panose="02040502050405020303" pitchFamily="18" charset="0"/>
            </a:endParaRPr>
          </a:p>
        </p:txBody>
      </p:sp>
      <p:sp>
        <p:nvSpPr>
          <p:cNvPr id="16" name="Shape 14"/>
          <p:cNvSpPr/>
          <p:nvPr/>
        </p:nvSpPr>
        <p:spPr>
          <a:xfrm>
            <a:off x="9258259" y="3653449"/>
            <a:ext cx="3829077" cy="3247497"/>
          </a:xfrm>
          <a:prstGeom prst="rect">
            <a:avLst/>
          </a:prstGeom>
          <a:solidFill>
            <a:srgbClr val="FFFFFF"/>
          </a:solidFill>
          <a:ln/>
        </p:spPr>
        <p:txBody>
          <a:bodyPr/>
          <a:lstStyle/>
          <a:p>
            <a:endParaRPr lang="en-US">
              <a:latin typeface="Georgia" panose="02040502050405020303" pitchFamily="18" charset="0"/>
            </a:endParaRPr>
          </a:p>
        </p:txBody>
      </p:sp>
      <p:sp>
        <p:nvSpPr>
          <p:cNvPr id="17" name="Shape 15"/>
          <p:cNvSpPr/>
          <p:nvPr/>
        </p:nvSpPr>
        <p:spPr>
          <a:xfrm>
            <a:off x="9258259" y="3653449"/>
            <a:ext cx="3829077" cy="56284"/>
          </a:xfrm>
          <a:prstGeom prst="rect">
            <a:avLst/>
          </a:prstGeom>
          <a:solidFill>
            <a:srgbClr val="1C565D"/>
          </a:solidFill>
          <a:ln/>
        </p:spPr>
        <p:txBody>
          <a:bodyPr/>
          <a:lstStyle/>
          <a:p>
            <a:endParaRPr lang="en-US">
              <a:latin typeface="Georgia" panose="02040502050405020303" pitchFamily="18" charset="0"/>
            </a:endParaRPr>
          </a:p>
        </p:txBody>
      </p:sp>
      <p:sp>
        <p:nvSpPr>
          <p:cNvPr id="18" name="Text 16"/>
          <p:cNvSpPr/>
          <p:nvPr/>
        </p:nvSpPr>
        <p:spPr>
          <a:xfrm>
            <a:off x="9544009" y="4014493"/>
            <a:ext cx="3355304" cy="789276"/>
          </a:xfrm>
          <a:prstGeom prst="rect">
            <a:avLst/>
          </a:prstGeom>
          <a:noFill/>
          <a:ln/>
        </p:spPr>
        <p:txBody>
          <a:bodyPr wrap="square" lIns="25400" tIns="25400" rIns="25400" bIns="25400" rtlCol="0" anchor="t">
            <a:normAutofit lnSpcReduction="10000"/>
          </a:bodyPr>
          <a:lstStyle/>
          <a:p>
            <a:pPr marL="0" indent="0" algn="l">
              <a:lnSpc>
                <a:spcPct val="102080"/>
              </a:lnSpc>
              <a:buNone/>
            </a:pPr>
            <a:r>
              <a:rPr lang="en-US" sz="2550" b="1" dirty="0">
                <a:solidFill>
                  <a:srgbClr val="1C565D"/>
                </a:solidFill>
                <a:latin typeface="Georgia" panose="02040502050405020303" pitchFamily="18" charset="0"/>
                <a:ea typeface="Georgia" pitchFamily="34" charset="-122"/>
                <a:cs typeface="Georgia" pitchFamily="34" charset="-120"/>
              </a:rPr>
              <a:t>Learning &amp; performance</a:t>
            </a:r>
            <a:endParaRPr lang="en-US" sz="2550" dirty="0">
              <a:latin typeface="Georgia" panose="02040502050405020303" pitchFamily="18" charset="0"/>
            </a:endParaRPr>
          </a:p>
        </p:txBody>
      </p:sp>
      <p:sp>
        <p:nvSpPr>
          <p:cNvPr id="19" name="Text 17"/>
          <p:cNvSpPr/>
          <p:nvPr/>
        </p:nvSpPr>
        <p:spPr>
          <a:xfrm>
            <a:off x="9544009" y="4899005"/>
            <a:ext cx="3355304" cy="1697195"/>
          </a:xfrm>
          <a:prstGeom prst="rect">
            <a:avLst/>
          </a:prstGeom>
          <a:noFill/>
          <a:ln/>
        </p:spPr>
        <p:txBody>
          <a:bodyPr wrap="square" lIns="25400" tIns="25400" rIns="25400" bIns="25400" rtlCol="0" anchor="t">
            <a:normAutofit lnSpcReduction="10000"/>
          </a:bodyPr>
          <a:lstStyle/>
          <a:p>
            <a:pPr marL="0" indent="0" algn="l">
              <a:lnSpc>
                <a:spcPct val="116133"/>
              </a:lnSpc>
              <a:buNone/>
            </a:pPr>
            <a:r>
              <a:rPr lang="en-US" sz="1950" dirty="0">
                <a:solidFill>
                  <a:srgbClr val="55676C"/>
                </a:solidFill>
                <a:latin typeface="Georgia" panose="02040502050405020303" pitchFamily="18" charset="0"/>
                <a:ea typeface="Arial" pitchFamily="34" charset="-122"/>
                <a:cs typeface="Arial" pitchFamily="34" charset="-120"/>
              </a:rPr>
              <a:t>inconsistency • strong knowledge / weak execution • performance that changes with demand, structure, interest, or stress</a:t>
            </a:r>
            <a:endParaRPr lang="en-US" sz="1950" dirty="0">
              <a:latin typeface="Georgia" panose="02040502050405020303" pitchFamily="18" charset="0"/>
            </a:endParaRPr>
          </a:p>
        </p:txBody>
      </p:sp>
      <p:sp>
        <p:nvSpPr>
          <p:cNvPr id="20" name="Shape 18"/>
          <p:cNvSpPr/>
          <p:nvPr/>
        </p:nvSpPr>
        <p:spPr>
          <a:xfrm>
            <a:off x="13315922" y="3653449"/>
            <a:ext cx="3829077" cy="3247497"/>
          </a:xfrm>
          <a:prstGeom prst="rect">
            <a:avLst/>
          </a:prstGeom>
          <a:solidFill>
            <a:srgbClr val="FFFFFF"/>
          </a:solidFill>
          <a:ln/>
        </p:spPr>
        <p:txBody>
          <a:bodyPr/>
          <a:lstStyle/>
          <a:p>
            <a:endParaRPr lang="en-US">
              <a:latin typeface="Georgia" panose="02040502050405020303" pitchFamily="18" charset="0"/>
            </a:endParaRPr>
          </a:p>
        </p:txBody>
      </p:sp>
      <p:sp>
        <p:nvSpPr>
          <p:cNvPr id="21" name="Shape 19"/>
          <p:cNvSpPr/>
          <p:nvPr/>
        </p:nvSpPr>
        <p:spPr>
          <a:xfrm>
            <a:off x="13315922" y="3653449"/>
            <a:ext cx="3829077" cy="56284"/>
          </a:xfrm>
          <a:prstGeom prst="rect">
            <a:avLst/>
          </a:prstGeom>
          <a:solidFill>
            <a:srgbClr val="1C565D"/>
          </a:solidFill>
          <a:ln/>
        </p:spPr>
        <p:txBody>
          <a:bodyPr/>
          <a:lstStyle/>
          <a:p>
            <a:endParaRPr lang="en-US">
              <a:latin typeface="Georgia" panose="02040502050405020303" pitchFamily="18" charset="0"/>
            </a:endParaRPr>
          </a:p>
        </p:txBody>
      </p:sp>
      <p:sp>
        <p:nvSpPr>
          <p:cNvPr id="22" name="Text 20"/>
          <p:cNvSpPr/>
          <p:nvPr/>
        </p:nvSpPr>
        <p:spPr>
          <a:xfrm>
            <a:off x="13601672" y="4202286"/>
            <a:ext cx="3583335" cy="413688"/>
          </a:xfrm>
          <a:prstGeom prst="rect">
            <a:avLst/>
          </a:prstGeom>
          <a:noFill/>
          <a:ln/>
        </p:spPr>
        <p:txBody>
          <a:bodyPr wrap="square" lIns="25400" tIns="25400" rIns="25400" bIns="25400" rtlCol="0" anchor="t">
            <a:normAutofit lnSpcReduction="10000"/>
          </a:bodyPr>
          <a:lstStyle/>
          <a:p>
            <a:pPr marL="0" indent="0" algn="l">
              <a:lnSpc>
                <a:spcPct val="102080"/>
              </a:lnSpc>
              <a:buNone/>
            </a:pPr>
            <a:r>
              <a:rPr lang="en-US" sz="2550" b="1" dirty="0">
                <a:solidFill>
                  <a:srgbClr val="1C565D"/>
                </a:solidFill>
                <a:latin typeface="Georgia" panose="02040502050405020303" pitchFamily="18" charset="0"/>
                <a:ea typeface="Georgia" pitchFamily="34" charset="-122"/>
                <a:cs typeface="Georgia" pitchFamily="34" charset="-120"/>
              </a:rPr>
              <a:t>Relationships</a:t>
            </a:r>
            <a:endParaRPr lang="en-US" sz="2550" dirty="0">
              <a:latin typeface="Georgia" panose="02040502050405020303" pitchFamily="18" charset="0"/>
            </a:endParaRPr>
          </a:p>
        </p:txBody>
      </p:sp>
      <p:sp>
        <p:nvSpPr>
          <p:cNvPr id="23" name="Text 21"/>
          <p:cNvSpPr/>
          <p:nvPr/>
        </p:nvSpPr>
        <p:spPr>
          <a:xfrm>
            <a:off x="13601672" y="4711211"/>
            <a:ext cx="3355304" cy="1697195"/>
          </a:xfrm>
          <a:prstGeom prst="rect">
            <a:avLst/>
          </a:prstGeom>
          <a:noFill/>
          <a:ln/>
        </p:spPr>
        <p:txBody>
          <a:bodyPr wrap="square" lIns="25400" tIns="25400" rIns="25400" bIns="25400" rtlCol="0" anchor="t">
            <a:normAutofit/>
          </a:bodyPr>
          <a:lstStyle/>
          <a:p>
            <a:pPr marL="0" indent="0" algn="l">
              <a:lnSpc>
                <a:spcPct val="116133"/>
              </a:lnSpc>
              <a:buNone/>
            </a:pPr>
            <a:r>
              <a:rPr lang="en-US" sz="1950" dirty="0">
                <a:solidFill>
                  <a:srgbClr val="55676C"/>
                </a:solidFill>
                <a:latin typeface="Georgia" panose="02040502050405020303" pitchFamily="18" charset="0"/>
                <a:ea typeface="Arial" pitchFamily="34" charset="-122"/>
                <a:cs typeface="Arial" pitchFamily="34" charset="-120"/>
              </a:rPr>
              <a:t>misunderstandings • rigidity • perspective-taking challenges • interactions that feel subtly effortful or hard to read</a:t>
            </a:r>
            <a:endParaRPr lang="en-US" sz="1950" dirty="0">
              <a:latin typeface="Georgia" panose="02040502050405020303" pitchFamily="18" charset="0"/>
            </a:endParaRPr>
          </a:p>
        </p:txBody>
      </p:sp>
      <p:sp>
        <p:nvSpPr>
          <p:cNvPr id="24" name="Text 22"/>
          <p:cNvSpPr/>
          <p:nvPr/>
        </p:nvSpPr>
        <p:spPr>
          <a:xfrm>
            <a:off x="1143000" y="9565724"/>
            <a:ext cx="8725123" cy="302202"/>
          </a:xfrm>
          <a:prstGeom prst="rect">
            <a:avLst/>
          </a:prstGeom>
          <a:noFill/>
          <a:ln/>
        </p:spPr>
        <p:txBody>
          <a:bodyPr wrap="none" lIns="25400" tIns="25400" rIns="25400" bIns="25400" rtlCol="0" anchor="t">
            <a:normAutofit lnSpcReduction="10000"/>
          </a:bodyPr>
          <a:lstStyle/>
          <a:p>
            <a:pPr marL="0" indent="0" algn="l">
              <a:buNone/>
            </a:pPr>
            <a:r>
              <a:rPr lang="en-US" sz="1800" b="1" kern="0" spc="72" dirty="0">
                <a:solidFill>
                  <a:srgbClr val="55676C"/>
                </a:solidFill>
                <a:latin typeface="Georgia" panose="02040502050405020303" pitchFamily="18" charset="0"/>
                <a:ea typeface="Arial" pitchFamily="34" charset="-122"/>
                <a:cs typeface="Arial" pitchFamily="34" charset="-120"/>
              </a:rPr>
              <a:t>Understanding Neurodivergence — In a Counselling and Family Context</a:t>
            </a:r>
            <a:endParaRPr lang="en-US" sz="1800" dirty="0">
              <a:latin typeface="Georgia" panose="02040502050405020303" pitchFamily="18" charset="0"/>
            </a:endParaRPr>
          </a:p>
        </p:txBody>
      </p:sp>
      <p:sp>
        <p:nvSpPr>
          <p:cNvPr id="25" name="Shape 23"/>
          <p:cNvSpPr/>
          <p:nvPr/>
        </p:nvSpPr>
        <p:spPr>
          <a:xfrm>
            <a:off x="16624777" y="9640612"/>
            <a:ext cx="114259" cy="114259"/>
          </a:xfrm>
          <a:prstGeom prst="rect">
            <a:avLst/>
          </a:prstGeom>
          <a:solidFill>
            <a:srgbClr val="1C565D"/>
          </a:solidFill>
          <a:ln/>
        </p:spPr>
        <p:txBody>
          <a:bodyPr/>
          <a:lstStyle/>
          <a:p>
            <a:endParaRPr lang="en-US">
              <a:latin typeface="Georgia" panose="02040502050405020303" pitchFamily="18" charset="0"/>
            </a:endParaRPr>
          </a:p>
        </p:txBody>
      </p:sp>
      <p:sp>
        <p:nvSpPr>
          <p:cNvPr id="26" name="Text 24"/>
          <p:cNvSpPr/>
          <p:nvPr/>
        </p:nvSpPr>
        <p:spPr>
          <a:xfrm>
            <a:off x="16872374" y="9570054"/>
            <a:ext cx="348825" cy="293543"/>
          </a:xfrm>
          <a:prstGeom prst="rect">
            <a:avLst/>
          </a:prstGeom>
          <a:noFill/>
          <a:ln/>
        </p:spPr>
        <p:txBody>
          <a:bodyPr wrap="none" lIns="0" tIns="0" rIns="0" bIns="0" rtlCol="0" anchor="t">
            <a:normAutofit/>
          </a:bodyPr>
          <a:lstStyle/>
          <a:p>
            <a:pPr marL="0" indent="0" algn="l">
              <a:buNone/>
            </a:pPr>
            <a:r>
              <a:rPr lang="en-US" sz="1800" b="1" kern="0" spc="72" dirty="0">
                <a:solidFill>
                  <a:srgbClr val="1C565D"/>
                </a:solidFill>
                <a:latin typeface="Georgia" panose="02040502050405020303" pitchFamily="18" charset="0"/>
                <a:ea typeface="Arial" pitchFamily="34" charset="-122"/>
                <a:cs typeface="Arial" pitchFamily="34" charset="-120"/>
              </a:rPr>
              <a:t>03</a:t>
            </a:r>
            <a:endParaRPr lang="en-US" sz="1800" dirty="0">
              <a:latin typeface="Georgia" panose="02040502050405020303"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66673" cy="10287000"/>
          </a:xfrm>
          <a:prstGeom prst="rect">
            <a:avLst/>
          </a:prstGeom>
          <a:solidFill>
            <a:srgbClr val="1C565D"/>
          </a:solidFill>
          <a:ln/>
        </p:spPr>
        <p:txBody>
          <a:bodyPr/>
          <a:lstStyle/>
          <a:p>
            <a:endParaRPr lang="en-US">
              <a:latin typeface="Georgia" panose="02040502050405020303" pitchFamily="18" charset="0"/>
            </a:endParaRPr>
          </a:p>
        </p:txBody>
      </p:sp>
      <p:sp>
        <p:nvSpPr>
          <p:cNvPr id="3" name="Shape 1"/>
          <p:cNvSpPr/>
          <p:nvPr/>
        </p:nvSpPr>
        <p:spPr>
          <a:xfrm>
            <a:off x="0" y="0"/>
            <a:ext cx="266673" cy="3394702"/>
          </a:xfrm>
          <a:prstGeom prst="rect">
            <a:avLst/>
          </a:prstGeom>
          <a:solidFill>
            <a:srgbClr val="528B8E"/>
          </a:solidFill>
          <a:ln/>
        </p:spPr>
        <p:txBody>
          <a:bodyPr/>
          <a:lstStyle/>
          <a:p>
            <a:endParaRPr lang="en-US">
              <a:latin typeface="Georgia" panose="02040502050405020303" pitchFamily="18" charset="0"/>
            </a:endParaRPr>
          </a:p>
        </p:txBody>
      </p:sp>
      <p:sp>
        <p:nvSpPr>
          <p:cNvPr id="4" name="Shape 2"/>
          <p:cNvSpPr/>
          <p:nvPr/>
        </p:nvSpPr>
        <p:spPr>
          <a:xfrm>
            <a:off x="1143000" y="994037"/>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5" name="Text 3"/>
          <p:cNvSpPr/>
          <p:nvPr/>
        </p:nvSpPr>
        <p:spPr>
          <a:xfrm>
            <a:off x="1847769" y="880589"/>
            <a:ext cx="2815434" cy="293543"/>
          </a:xfrm>
          <a:prstGeom prst="rect">
            <a:avLst/>
          </a:prstGeom>
          <a:noFill/>
          <a:ln/>
        </p:spPr>
        <p:txBody>
          <a:bodyPr wrap="square" lIns="0" tIns="0" rIns="0" bIns="0" rtlCol="0" anchor="t">
            <a:normAutofit fontScale="85000" lnSpcReduction="100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CLINICAL SIGNALS</a:t>
            </a:r>
            <a:endParaRPr lang="en-US" sz="1800" dirty="0">
              <a:latin typeface="Georgia" panose="02040502050405020303" pitchFamily="18" charset="0"/>
            </a:endParaRPr>
          </a:p>
        </p:txBody>
      </p:sp>
      <p:sp>
        <p:nvSpPr>
          <p:cNvPr id="6" name="Text 4"/>
          <p:cNvSpPr/>
          <p:nvPr/>
        </p:nvSpPr>
        <p:spPr>
          <a:xfrm>
            <a:off x="1143000" y="1387958"/>
            <a:ext cx="16554450" cy="646131"/>
          </a:xfrm>
          <a:prstGeom prst="rect">
            <a:avLst/>
          </a:prstGeom>
          <a:noFill/>
          <a:ln/>
        </p:spPr>
        <p:txBody>
          <a:bodyPr wrap="square" lIns="25400" tIns="25400" rIns="25400" bIns="25400" rtlCol="0" anchor="t">
            <a:normAutofit lnSpcReduction="10000"/>
          </a:bodyPr>
          <a:lstStyle/>
          <a:p>
            <a:pPr marL="0" indent="0" algn="l">
              <a:lnSpc>
                <a:spcPct val="100320"/>
              </a:lnSpc>
              <a:buNone/>
            </a:pPr>
            <a:r>
              <a:rPr lang="en-US" sz="4200" kern="0" spc="-34" dirty="0">
                <a:solidFill>
                  <a:srgbClr val="1C2A2E"/>
                </a:solidFill>
                <a:latin typeface="Georgia" panose="02040502050405020303" pitchFamily="18" charset="0"/>
                <a:ea typeface="Georgia" pitchFamily="34" charset="-122"/>
                <a:cs typeface="Georgia" pitchFamily="34" charset="-120"/>
              </a:rPr>
              <a:t>Common Neurodivergent Presentations You May Encounter</a:t>
            </a:r>
            <a:endParaRPr lang="en-US" sz="4200" dirty="0">
              <a:latin typeface="Georgia" panose="02040502050405020303" pitchFamily="18" charset="0"/>
            </a:endParaRPr>
          </a:p>
        </p:txBody>
      </p:sp>
      <p:sp>
        <p:nvSpPr>
          <p:cNvPr id="7" name="Shape 5"/>
          <p:cNvSpPr/>
          <p:nvPr/>
        </p:nvSpPr>
        <p:spPr>
          <a:xfrm>
            <a:off x="922145" y="2389204"/>
            <a:ext cx="7810500" cy="6881339"/>
          </a:xfrm>
          <a:prstGeom prst="rect">
            <a:avLst/>
          </a:prstGeom>
          <a:solidFill>
            <a:srgbClr val="1C565D"/>
          </a:solidFill>
          <a:ln/>
        </p:spPr>
        <p:txBody>
          <a:bodyPr/>
          <a:lstStyle/>
          <a:p>
            <a:endParaRPr lang="en-US">
              <a:latin typeface="Georgia" panose="02040502050405020303" pitchFamily="18" charset="0"/>
            </a:endParaRPr>
          </a:p>
        </p:txBody>
      </p:sp>
      <p:sp>
        <p:nvSpPr>
          <p:cNvPr id="8" name="Text 6"/>
          <p:cNvSpPr/>
          <p:nvPr/>
        </p:nvSpPr>
        <p:spPr>
          <a:xfrm>
            <a:off x="1409673" y="2838404"/>
            <a:ext cx="5907660" cy="646131"/>
          </a:xfrm>
          <a:prstGeom prst="rect">
            <a:avLst/>
          </a:prstGeom>
          <a:noFill/>
          <a:ln/>
        </p:spPr>
        <p:txBody>
          <a:bodyPr wrap="square" lIns="25400" tIns="25400" rIns="25400" bIns="25400" rtlCol="0" anchor="t">
            <a:noAutofit/>
          </a:bodyPr>
          <a:lstStyle/>
          <a:p>
            <a:pPr marL="0" indent="0" algn="l">
              <a:lnSpc>
                <a:spcPct val="110000"/>
              </a:lnSpc>
              <a:buNone/>
            </a:pPr>
            <a:r>
              <a:rPr lang="en-US" sz="3000" dirty="0">
                <a:solidFill>
                  <a:srgbClr val="FFFFFF"/>
                </a:solidFill>
                <a:latin typeface="Georgia" panose="02040502050405020303" pitchFamily="18" charset="0"/>
                <a:ea typeface="Georgia" pitchFamily="34" charset="-122"/>
                <a:cs typeface="Georgia" pitchFamily="34" charset="-120"/>
              </a:rPr>
              <a:t>What may be underneath</a:t>
            </a:r>
            <a:endParaRPr lang="en-US" sz="3000" dirty="0">
              <a:latin typeface="Georgia" panose="02040502050405020303" pitchFamily="18" charset="0"/>
            </a:endParaRPr>
          </a:p>
        </p:txBody>
      </p:sp>
      <p:sp>
        <p:nvSpPr>
          <p:cNvPr id="10" name="Text 8"/>
          <p:cNvSpPr/>
          <p:nvPr/>
        </p:nvSpPr>
        <p:spPr>
          <a:xfrm>
            <a:off x="1847769" y="3793336"/>
            <a:ext cx="4965357" cy="3853283"/>
          </a:xfrm>
          <a:prstGeom prst="rect">
            <a:avLst/>
          </a:prstGeom>
          <a:noFill/>
          <a:ln/>
        </p:spPr>
        <p:txBody>
          <a:bodyPr wrap="square" lIns="0" tIns="0" rIns="0" bIns="0" rtlCol="0" anchor="t">
            <a:noAutofit/>
          </a:bodyPr>
          <a:lstStyle/>
          <a:p>
            <a:pPr marL="342900" indent="-342900">
              <a:lnSpc>
                <a:spcPct val="150000"/>
              </a:lnSpc>
              <a:spcAft>
                <a:spcPts val="600"/>
              </a:spcAft>
              <a:buSzPct val="135000"/>
              <a:buFont typeface="Wingdings" pitchFamily="2" charset="2"/>
              <a:buChar char="§"/>
            </a:pPr>
            <a:r>
              <a:rPr lang="en-US" sz="2600" dirty="0">
                <a:solidFill>
                  <a:schemeClr val="bg1"/>
                </a:solidFill>
                <a:latin typeface="Georgia" panose="02040502050405020303" pitchFamily="18" charset="0"/>
                <a:cs typeface="Arial" pitchFamily="34" charset="-120"/>
              </a:rPr>
              <a:t>Giftedness</a:t>
            </a:r>
          </a:p>
          <a:p>
            <a:pPr marL="342900" indent="-342900">
              <a:lnSpc>
                <a:spcPct val="150000"/>
              </a:lnSpc>
              <a:spcAft>
                <a:spcPts val="600"/>
              </a:spcAft>
              <a:buSzPct val="135000"/>
              <a:buFont typeface="Wingdings" pitchFamily="2" charset="2"/>
              <a:buChar char="§"/>
            </a:pPr>
            <a:r>
              <a:rPr lang="en-US" sz="2600" dirty="0">
                <a:solidFill>
                  <a:schemeClr val="bg1"/>
                </a:solidFill>
                <a:latin typeface="Georgia" panose="02040502050405020303" pitchFamily="18" charset="0"/>
                <a:cs typeface="Arial" pitchFamily="34" charset="-120"/>
              </a:rPr>
              <a:t>ADHD</a:t>
            </a:r>
          </a:p>
          <a:p>
            <a:pPr marL="342900" indent="-342900">
              <a:lnSpc>
                <a:spcPct val="150000"/>
              </a:lnSpc>
              <a:spcAft>
                <a:spcPts val="600"/>
              </a:spcAft>
              <a:buSzPct val="135000"/>
              <a:buFont typeface="Wingdings" pitchFamily="2" charset="2"/>
              <a:buChar char="§"/>
            </a:pPr>
            <a:r>
              <a:rPr lang="en-US" sz="2600" dirty="0">
                <a:solidFill>
                  <a:schemeClr val="bg1"/>
                </a:solidFill>
                <a:latin typeface="Georgia" panose="02040502050405020303" pitchFamily="18" charset="0"/>
                <a:cs typeface="Arial" pitchFamily="34" charset="-120"/>
              </a:rPr>
              <a:t>ASD / autistic traits</a:t>
            </a:r>
          </a:p>
          <a:p>
            <a:pPr marL="342900" indent="-342900">
              <a:lnSpc>
                <a:spcPct val="150000"/>
              </a:lnSpc>
              <a:spcAft>
                <a:spcPts val="600"/>
              </a:spcAft>
              <a:buSzPct val="135000"/>
              <a:buFont typeface="Wingdings" pitchFamily="2" charset="2"/>
              <a:buChar char="§"/>
            </a:pPr>
            <a:r>
              <a:rPr lang="en-US" sz="2600" dirty="0">
                <a:solidFill>
                  <a:schemeClr val="bg1"/>
                </a:solidFill>
                <a:latin typeface="Georgia" panose="02040502050405020303" pitchFamily="18" charset="0"/>
                <a:cs typeface="Arial" pitchFamily="34" charset="-120"/>
              </a:rPr>
              <a:t>Twice-exceptionality (2e)</a:t>
            </a:r>
          </a:p>
          <a:p>
            <a:pPr marL="342900" indent="-342900">
              <a:lnSpc>
                <a:spcPct val="150000"/>
              </a:lnSpc>
              <a:spcAft>
                <a:spcPts val="600"/>
              </a:spcAft>
              <a:buSzPct val="135000"/>
              <a:buFont typeface="Wingdings" pitchFamily="2" charset="2"/>
              <a:buChar char="§"/>
            </a:pPr>
            <a:r>
              <a:rPr lang="en-US" sz="2600" dirty="0">
                <a:solidFill>
                  <a:schemeClr val="bg1"/>
                </a:solidFill>
                <a:latin typeface="Georgia" panose="02040502050405020303" pitchFamily="18" charset="0"/>
                <a:cs typeface="Arial" pitchFamily="34" charset="-120"/>
              </a:rPr>
              <a:t>Overlap</a:t>
            </a:r>
          </a:p>
        </p:txBody>
      </p:sp>
      <p:sp>
        <p:nvSpPr>
          <p:cNvPr id="19" name="Shape 17"/>
          <p:cNvSpPr/>
          <p:nvPr/>
        </p:nvSpPr>
        <p:spPr>
          <a:xfrm>
            <a:off x="9334499" y="2415075"/>
            <a:ext cx="7810500" cy="6881339"/>
          </a:xfrm>
          <a:prstGeom prst="rect">
            <a:avLst/>
          </a:prstGeom>
          <a:solidFill>
            <a:srgbClr val="FFFFFF"/>
          </a:solidFill>
          <a:ln w="17318">
            <a:solidFill>
              <a:srgbClr val="ADD3D5"/>
            </a:solidFill>
            <a:prstDash val="solid"/>
          </a:ln>
        </p:spPr>
        <p:txBody>
          <a:bodyPr/>
          <a:lstStyle/>
          <a:p>
            <a:endParaRPr lang="en-US" dirty="0">
              <a:latin typeface="Georgia" panose="02040502050405020303" pitchFamily="18" charset="0"/>
            </a:endParaRPr>
          </a:p>
        </p:txBody>
      </p:sp>
      <p:sp>
        <p:nvSpPr>
          <p:cNvPr id="20" name="Text 18"/>
          <p:cNvSpPr/>
          <p:nvPr/>
        </p:nvSpPr>
        <p:spPr>
          <a:xfrm>
            <a:off x="9589739" y="2693830"/>
            <a:ext cx="7631460" cy="419100"/>
          </a:xfrm>
          <a:prstGeom prst="rect">
            <a:avLst/>
          </a:prstGeom>
          <a:noFill/>
          <a:ln/>
        </p:spPr>
        <p:txBody>
          <a:bodyPr wrap="square" lIns="25400" tIns="25400" rIns="25400" bIns="25400" rtlCol="0" anchor="t">
            <a:noAutofit/>
          </a:bodyPr>
          <a:lstStyle/>
          <a:p>
            <a:pPr marL="0" indent="0" algn="l">
              <a:lnSpc>
                <a:spcPct val="110000"/>
              </a:lnSpc>
              <a:buNone/>
            </a:pPr>
            <a:r>
              <a:rPr lang="en-US" sz="3000" dirty="0">
                <a:solidFill>
                  <a:srgbClr val="1C2A2E"/>
                </a:solidFill>
                <a:latin typeface="Georgia" panose="02040502050405020303" pitchFamily="18" charset="0"/>
                <a:ea typeface="Georgia" pitchFamily="34" charset="-122"/>
                <a:cs typeface="Georgia" pitchFamily="34" charset="-120"/>
              </a:rPr>
              <a:t>What may bring them into counselling</a:t>
            </a:r>
            <a:endParaRPr lang="en-US" sz="3000" dirty="0">
              <a:latin typeface="Georgia" panose="02040502050405020303" pitchFamily="18" charset="0"/>
            </a:endParaRPr>
          </a:p>
        </p:txBody>
      </p:sp>
      <p:sp>
        <p:nvSpPr>
          <p:cNvPr id="22" name="Text 20"/>
          <p:cNvSpPr/>
          <p:nvPr/>
        </p:nvSpPr>
        <p:spPr>
          <a:xfrm>
            <a:off x="10653735" y="3391685"/>
            <a:ext cx="4633488" cy="5414801"/>
          </a:xfrm>
          <a:prstGeom prst="rect">
            <a:avLst/>
          </a:prstGeom>
          <a:noFill/>
          <a:ln/>
        </p:spPr>
        <p:txBody>
          <a:bodyPr wrap="square" lIns="0" tIns="0" rIns="0" bIns="0" rtlCol="0" anchor="t">
            <a:noAutofit/>
          </a:bodyPr>
          <a:lstStyle/>
          <a:p>
            <a:pPr marL="342900" indent="-342900" algn="l">
              <a:lnSpc>
                <a:spcPct val="150000"/>
              </a:lnSpc>
              <a:spcAft>
                <a:spcPts val="600"/>
              </a:spcAft>
              <a:buSzPct val="135000"/>
              <a:buFont typeface="Wingdings" pitchFamily="2" charset="2"/>
              <a:buChar char="§"/>
            </a:pPr>
            <a:r>
              <a:rPr lang="en-US" sz="2600" dirty="0">
                <a:solidFill>
                  <a:srgbClr val="1C2A2E"/>
                </a:solidFill>
                <a:latin typeface="Georgia" panose="02040502050405020303" pitchFamily="18" charset="0"/>
                <a:ea typeface="Arial" pitchFamily="34" charset="-122"/>
                <a:cs typeface="Arial" pitchFamily="34" charset="-120"/>
              </a:rPr>
              <a:t>Overwhelm</a:t>
            </a:r>
          </a:p>
          <a:p>
            <a:pPr marL="342900" indent="-342900">
              <a:lnSpc>
                <a:spcPct val="150000"/>
              </a:lnSpc>
              <a:spcAft>
                <a:spcPts val="600"/>
              </a:spcAft>
              <a:buSzPct val="135000"/>
              <a:buFont typeface="Wingdings" pitchFamily="2" charset="2"/>
              <a:buChar char="§"/>
            </a:pPr>
            <a:r>
              <a:rPr lang="en-US" sz="2600" dirty="0">
                <a:solidFill>
                  <a:srgbClr val="1C2A2E"/>
                </a:solidFill>
                <a:latin typeface="Georgia" panose="02040502050405020303" pitchFamily="18" charset="0"/>
                <a:ea typeface="Arial" pitchFamily="34" charset="-122"/>
                <a:cs typeface="Arial" pitchFamily="34" charset="-120"/>
              </a:rPr>
              <a:t>Masking</a:t>
            </a:r>
          </a:p>
          <a:p>
            <a:pPr marL="342900" indent="-342900">
              <a:lnSpc>
                <a:spcPct val="150000"/>
              </a:lnSpc>
              <a:spcAft>
                <a:spcPts val="600"/>
              </a:spcAft>
              <a:buSzPct val="135000"/>
              <a:buFont typeface="Wingdings" pitchFamily="2" charset="2"/>
              <a:buChar char="§"/>
            </a:pPr>
            <a:r>
              <a:rPr lang="en-US" sz="2600" dirty="0">
                <a:solidFill>
                  <a:srgbClr val="1C2A2E"/>
                </a:solidFill>
                <a:latin typeface="Georgia" panose="02040502050405020303" pitchFamily="18" charset="0"/>
                <a:ea typeface="Arial" pitchFamily="34" charset="-122"/>
                <a:cs typeface="Arial" pitchFamily="34" charset="-120"/>
              </a:rPr>
              <a:t>Perfectionism</a:t>
            </a:r>
          </a:p>
          <a:p>
            <a:pPr marL="342900" indent="-342900">
              <a:lnSpc>
                <a:spcPct val="150000"/>
              </a:lnSpc>
              <a:spcAft>
                <a:spcPts val="600"/>
              </a:spcAft>
              <a:buSzPct val="135000"/>
              <a:buFont typeface="Wingdings" pitchFamily="2" charset="2"/>
              <a:buChar char="§"/>
            </a:pPr>
            <a:r>
              <a:rPr lang="en-US" sz="2600" dirty="0">
                <a:solidFill>
                  <a:srgbClr val="1C2A2E"/>
                </a:solidFill>
                <a:latin typeface="Georgia" panose="02040502050405020303" pitchFamily="18" charset="0"/>
                <a:ea typeface="Arial" pitchFamily="34" charset="-122"/>
                <a:cs typeface="Arial" pitchFamily="34" charset="-120"/>
              </a:rPr>
              <a:t>School/work avoidance</a:t>
            </a:r>
            <a:endParaRPr lang="en-US" sz="2600" dirty="0">
              <a:latin typeface="Georgia" panose="02040502050405020303" pitchFamily="18" charset="0"/>
            </a:endParaRPr>
          </a:p>
          <a:p>
            <a:pPr marL="342900" indent="-342900">
              <a:lnSpc>
                <a:spcPct val="150000"/>
              </a:lnSpc>
              <a:spcAft>
                <a:spcPts val="600"/>
              </a:spcAft>
              <a:buSzPct val="135000"/>
              <a:buFont typeface="Wingdings" pitchFamily="2" charset="2"/>
              <a:buChar char="§"/>
            </a:pPr>
            <a:r>
              <a:rPr lang="en-US" sz="2600" dirty="0">
                <a:solidFill>
                  <a:srgbClr val="1C2A2E"/>
                </a:solidFill>
                <a:latin typeface="Georgia" panose="02040502050405020303" pitchFamily="18" charset="0"/>
                <a:ea typeface="Arial" pitchFamily="34" charset="-122"/>
                <a:cs typeface="Arial" pitchFamily="34" charset="-120"/>
              </a:rPr>
              <a:t>Burnout</a:t>
            </a:r>
          </a:p>
          <a:p>
            <a:pPr marL="342900" indent="-342900">
              <a:lnSpc>
                <a:spcPct val="150000"/>
              </a:lnSpc>
              <a:spcAft>
                <a:spcPts val="600"/>
              </a:spcAft>
              <a:buSzPct val="135000"/>
              <a:buFont typeface="Wingdings" pitchFamily="2" charset="2"/>
              <a:buChar char="§"/>
            </a:pPr>
            <a:r>
              <a:rPr lang="en-US" sz="2600" dirty="0">
                <a:solidFill>
                  <a:srgbClr val="1C2A2E"/>
                </a:solidFill>
                <a:latin typeface="Georgia" panose="02040502050405020303" pitchFamily="18" charset="0"/>
                <a:ea typeface="Arial" pitchFamily="34" charset="-122"/>
                <a:cs typeface="Arial" pitchFamily="34" charset="-120"/>
              </a:rPr>
              <a:t>Anxiety / depression</a:t>
            </a:r>
            <a:endParaRPr lang="en-US" sz="2600" dirty="0">
              <a:latin typeface="Georgia" panose="02040502050405020303" pitchFamily="18" charset="0"/>
            </a:endParaRPr>
          </a:p>
          <a:p>
            <a:pPr marL="342900" indent="-342900">
              <a:lnSpc>
                <a:spcPct val="150000"/>
              </a:lnSpc>
              <a:spcAft>
                <a:spcPts val="600"/>
              </a:spcAft>
              <a:buSzPct val="135000"/>
              <a:buFont typeface="Wingdings" pitchFamily="2" charset="2"/>
              <a:buChar char="§"/>
            </a:pPr>
            <a:r>
              <a:rPr lang="en-US" sz="2600" dirty="0">
                <a:solidFill>
                  <a:srgbClr val="1C2A2E"/>
                </a:solidFill>
                <a:latin typeface="Georgia" panose="02040502050405020303" pitchFamily="18" charset="0"/>
                <a:ea typeface="Arial" pitchFamily="34" charset="-122"/>
                <a:cs typeface="Arial" pitchFamily="34" charset="-120"/>
              </a:rPr>
              <a:t>Emotional dysregulation</a:t>
            </a:r>
          </a:p>
          <a:p>
            <a:pPr marL="342900" indent="-342900">
              <a:lnSpc>
                <a:spcPct val="150000"/>
              </a:lnSpc>
              <a:spcAft>
                <a:spcPts val="600"/>
              </a:spcAft>
              <a:buSzPct val="135000"/>
              <a:buFont typeface="Wingdings" pitchFamily="2" charset="2"/>
              <a:buChar char="§"/>
            </a:pPr>
            <a:r>
              <a:rPr lang="en-US" sz="2600" dirty="0">
                <a:solidFill>
                  <a:srgbClr val="1C2A2E"/>
                </a:solidFill>
                <a:latin typeface="Georgia" panose="02040502050405020303" pitchFamily="18" charset="0"/>
                <a:ea typeface="Arial" pitchFamily="34" charset="-122"/>
                <a:cs typeface="Arial" pitchFamily="34" charset="-120"/>
              </a:rPr>
              <a:t>Social withdrawal</a:t>
            </a:r>
            <a:endParaRPr lang="en-US" sz="2600" dirty="0">
              <a:latin typeface="Georgia" panose="02040502050405020303" pitchFamily="18" charset="0"/>
            </a:endParaRPr>
          </a:p>
        </p:txBody>
      </p:sp>
      <p:sp>
        <p:nvSpPr>
          <p:cNvPr id="37" name="Text 35"/>
          <p:cNvSpPr/>
          <p:nvPr/>
        </p:nvSpPr>
        <p:spPr>
          <a:xfrm>
            <a:off x="1143000" y="9565724"/>
            <a:ext cx="8725123" cy="302202"/>
          </a:xfrm>
          <a:prstGeom prst="rect">
            <a:avLst/>
          </a:prstGeom>
          <a:noFill/>
          <a:ln/>
        </p:spPr>
        <p:txBody>
          <a:bodyPr wrap="none" lIns="25400" tIns="25400" rIns="25400" bIns="25400" rtlCol="0" anchor="t">
            <a:normAutofit lnSpcReduction="10000"/>
          </a:bodyPr>
          <a:lstStyle/>
          <a:p>
            <a:pPr marL="0" indent="0" algn="l">
              <a:buNone/>
            </a:pPr>
            <a:r>
              <a:rPr lang="en-US" sz="1800" b="1" kern="0" spc="72" dirty="0">
                <a:solidFill>
                  <a:srgbClr val="55676C"/>
                </a:solidFill>
                <a:latin typeface="Georgia" panose="02040502050405020303" pitchFamily="18" charset="0"/>
                <a:ea typeface="Arial" pitchFamily="34" charset="-122"/>
                <a:cs typeface="Arial" pitchFamily="34" charset="-120"/>
              </a:rPr>
              <a:t>Understanding Neurodivergence — In a Counselling and Family Context</a:t>
            </a:r>
            <a:endParaRPr lang="en-US" sz="1800" dirty="0">
              <a:latin typeface="Georgia" panose="02040502050405020303" pitchFamily="18" charset="0"/>
            </a:endParaRPr>
          </a:p>
        </p:txBody>
      </p:sp>
      <p:sp>
        <p:nvSpPr>
          <p:cNvPr id="38" name="Shape 36"/>
          <p:cNvSpPr/>
          <p:nvPr/>
        </p:nvSpPr>
        <p:spPr>
          <a:xfrm>
            <a:off x="16624777" y="9640612"/>
            <a:ext cx="114259" cy="114259"/>
          </a:xfrm>
          <a:prstGeom prst="rect">
            <a:avLst/>
          </a:prstGeom>
          <a:solidFill>
            <a:srgbClr val="1C565D"/>
          </a:solidFill>
          <a:ln/>
        </p:spPr>
        <p:txBody>
          <a:bodyPr/>
          <a:lstStyle/>
          <a:p>
            <a:endParaRPr lang="en-US">
              <a:latin typeface="Georgia" panose="02040502050405020303" pitchFamily="18" charset="0"/>
            </a:endParaRPr>
          </a:p>
        </p:txBody>
      </p:sp>
      <p:sp>
        <p:nvSpPr>
          <p:cNvPr id="39" name="Text 37"/>
          <p:cNvSpPr/>
          <p:nvPr/>
        </p:nvSpPr>
        <p:spPr>
          <a:xfrm>
            <a:off x="16872374" y="9570054"/>
            <a:ext cx="348825" cy="293543"/>
          </a:xfrm>
          <a:prstGeom prst="rect">
            <a:avLst/>
          </a:prstGeom>
          <a:noFill/>
          <a:ln/>
        </p:spPr>
        <p:txBody>
          <a:bodyPr wrap="none" lIns="0" tIns="0" rIns="0" bIns="0" rtlCol="0" anchor="t">
            <a:normAutofit/>
          </a:bodyPr>
          <a:lstStyle/>
          <a:p>
            <a:pPr marL="0" indent="0" algn="l">
              <a:buNone/>
            </a:pPr>
            <a:r>
              <a:rPr lang="en-US" sz="1800" b="1" kern="0" spc="72" dirty="0">
                <a:solidFill>
                  <a:srgbClr val="1C565D"/>
                </a:solidFill>
                <a:latin typeface="Georgia" panose="02040502050405020303" pitchFamily="18" charset="0"/>
                <a:ea typeface="Arial" pitchFamily="34" charset="-122"/>
                <a:cs typeface="Arial" pitchFamily="34" charset="-120"/>
              </a:rPr>
              <a:t>04</a:t>
            </a:r>
            <a:endParaRPr lang="en-US" sz="1800" dirty="0">
              <a:latin typeface="Georgia" panose="020405020504050203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9" grpId="0" animBg="1"/>
      <p:bldP spid="20"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66673" cy="10287000"/>
          </a:xfrm>
          <a:prstGeom prst="rect">
            <a:avLst/>
          </a:prstGeom>
          <a:solidFill>
            <a:srgbClr val="1C565D"/>
          </a:solidFill>
          <a:ln/>
        </p:spPr>
        <p:txBody>
          <a:bodyPr/>
          <a:lstStyle/>
          <a:p>
            <a:endParaRPr lang="en-US">
              <a:latin typeface="Georgia" panose="02040502050405020303" pitchFamily="18" charset="0"/>
            </a:endParaRPr>
          </a:p>
        </p:txBody>
      </p:sp>
      <p:sp>
        <p:nvSpPr>
          <p:cNvPr id="3" name="Shape 1"/>
          <p:cNvSpPr/>
          <p:nvPr/>
        </p:nvSpPr>
        <p:spPr>
          <a:xfrm>
            <a:off x="0" y="0"/>
            <a:ext cx="266673" cy="3394702"/>
          </a:xfrm>
          <a:prstGeom prst="rect">
            <a:avLst/>
          </a:prstGeom>
          <a:solidFill>
            <a:srgbClr val="528B8E"/>
          </a:solidFill>
          <a:ln/>
        </p:spPr>
        <p:txBody>
          <a:bodyPr/>
          <a:lstStyle/>
          <a:p>
            <a:endParaRPr lang="en-US">
              <a:latin typeface="Georgia" panose="02040502050405020303" pitchFamily="18" charset="0"/>
            </a:endParaRPr>
          </a:p>
        </p:txBody>
      </p:sp>
      <p:sp>
        <p:nvSpPr>
          <p:cNvPr id="4" name="Shape 2"/>
          <p:cNvSpPr/>
          <p:nvPr/>
        </p:nvSpPr>
        <p:spPr>
          <a:xfrm>
            <a:off x="1143000" y="994037"/>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5" name="Text 3"/>
          <p:cNvSpPr/>
          <p:nvPr/>
        </p:nvSpPr>
        <p:spPr>
          <a:xfrm>
            <a:off x="1847769" y="880589"/>
            <a:ext cx="2507916" cy="293543"/>
          </a:xfrm>
          <a:prstGeom prst="rect">
            <a:avLst/>
          </a:prstGeom>
          <a:noFill/>
          <a:ln/>
        </p:spPr>
        <p:txBody>
          <a:bodyPr wrap="square" lIns="0" tIns="0" rIns="0" bIns="0" rtlCol="0" anchor="t">
            <a:normAutofit fontScale="85000" lnSpcReduction="100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PRESENTATIONS</a:t>
            </a:r>
            <a:endParaRPr lang="en-US" sz="1800" dirty="0">
              <a:latin typeface="Georgia" panose="02040502050405020303" pitchFamily="18" charset="0"/>
            </a:endParaRPr>
          </a:p>
        </p:txBody>
      </p:sp>
      <p:sp>
        <p:nvSpPr>
          <p:cNvPr id="6" name="Text 4"/>
          <p:cNvSpPr/>
          <p:nvPr/>
        </p:nvSpPr>
        <p:spPr>
          <a:xfrm>
            <a:off x="1143000" y="1387958"/>
            <a:ext cx="16554450" cy="646131"/>
          </a:xfrm>
          <a:prstGeom prst="rect">
            <a:avLst/>
          </a:prstGeom>
          <a:noFill/>
          <a:ln/>
        </p:spPr>
        <p:txBody>
          <a:bodyPr wrap="square" lIns="25400" tIns="25400" rIns="25400" bIns="25400" rtlCol="0" anchor="t">
            <a:normAutofit lnSpcReduction="10000"/>
          </a:bodyPr>
          <a:lstStyle/>
          <a:p>
            <a:pPr marL="0" indent="0" algn="l">
              <a:lnSpc>
                <a:spcPct val="100320"/>
              </a:lnSpc>
              <a:buNone/>
            </a:pPr>
            <a:r>
              <a:rPr lang="en-US" sz="4200" kern="0" spc="-34" dirty="0">
                <a:solidFill>
                  <a:srgbClr val="1C2A2E"/>
                </a:solidFill>
                <a:latin typeface="Georgia" panose="02040502050405020303" pitchFamily="18" charset="0"/>
                <a:ea typeface="Georgia" pitchFamily="34" charset="-122"/>
                <a:cs typeface="Georgia" pitchFamily="34" charset="-120"/>
              </a:rPr>
              <a:t>Giftedness: More Than High Ability</a:t>
            </a:r>
            <a:endParaRPr lang="en-US" sz="4200" dirty="0">
              <a:latin typeface="Georgia" panose="02040502050405020303" pitchFamily="18" charset="0"/>
            </a:endParaRPr>
          </a:p>
        </p:txBody>
      </p:sp>
      <p:sp>
        <p:nvSpPr>
          <p:cNvPr id="7" name="Shape 5"/>
          <p:cNvSpPr/>
          <p:nvPr/>
        </p:nvSpPr>
        <p:spPr>
          <a:xfrm>
            <a:off x="1143000" y="2980019"/>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8" name="Text 6"/>
          <p:cNvSpPr/>
          <p:nvPr/>
        </p:nvSpPr>
        <p:spPr>
          <a:xfrm>
            <a:off x="1416573" y="2980019"/>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Asynchronous development</a:t>
            </a:r>
            <a:endParaRPr lang="en-US" sz="2250" dirty="0">
              <a:latin typeface="Georgia" panose="02040502050405020303" pitchFamily="18" charset="0"/>
            </a:endParaRPr>
          </a:p>
        </p:txBody>
      </p:sp>
      <p:sp>
        <p:nvSpPr>
          <p:cNvPr id="9" name="Text 7"/>
          <p:cNvSpPr/>
          <p:nvPr/>
        </p:nvSpPr>
        <p:spPr>
          <a:xfrm>
            <a:off x="1416573" y="3379961"/>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advanced thinking may coexist with age-typical or younger emotional, social, or executive capacities</a:t>
            </a:r>
            <a:endParaRPr lang="en-US" sz="1875" dirty="0">
              <a:latin typeface="Georgia" panose="02040502050405020303" pitchFamily="18" charset="0"/>
            </a:endParaRPr>
          </a:p>
        </p:txBody>
      </p:sp>
      <p:sp>
        <p:nvSpPr>
          <p:cNvPr id="10" name="Shape 8"/>
          <p:cNvSpPr/>
          <p:nvPr/>
        </p:nvSpPr>
        <p:spPr>
          <a:xfrm>
            <a:off x="9524999" y="2980019"/>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11" name="Text 9"/>
          <p:cNvSpPr/>
          <p:nvPr/>
        </p:nvSpPr>
        <p:spPr>
          <a:xfrm>
            <a:off x="9798573" y="2980019"/>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Intensity</a:t>
            </a:r>
            <a:endParaRPr lang="en-US" sz="2250" dirty="0">
              <a:latin typeface="Georgia" panose="02040502050405020303" pitchFamily="18" charset="0"/>
            </a:endParaRPr>
          </a:p>
        </p:txBody>
      </p:sp>
      <p:sp>
        <p:nvSpPr>
          <p:cNvPr id="12" name="Text 10"/>
          <p:cNvSpPr/>
          <p:nvPr/>
        </p:nvSpPr>
        <p:spPr>
          <a:xfrm>
            <a:off x="9798573" y="3379961"/>
            <a:ext cx="7566819" cy="666696"/>
          </a:xfrm>
          <a:prstGeom prst="rect">
            <a:avLst/>
          </a:prstGeom>
          <a:noFill/>
          <a:ln/>
        </p:spPr>
        <p:txBody>
          <a:bodyPr wrap="square" lIns="25400" tIns="25400" rIns="25400" bIns="25400" rtlCol="0" anchor="t">
            <a:normAutofit/>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emotions, interests, curiosity, and reactions may be experienced deeply</a:t>
            </a:r>
            <a:endParaRPr lang="en-US" sz="1875" dirty="0">
              <a:latin typeface="Georgia" panose="02040502050405020303" pitchFamily="18" charset="0"/>
            </a:endParaRPr>
          </a:p>
        </p:txBody>
      </p:sp>
      <p:sp>
        <p:nvSpPr>
          <p:cNvPr id="13" name="Shape 11"/>
          <p:cNvSpPr/>
          <p:nvPr/>
        </p:nvSpPr>
        <p:spPr>
          <a:xfrm>
            <a:off x="1143000" y="4256153"/>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14" name="Text 12"/>
          <p:cNvSpPr/>
          <p:nvPr/>
        </p:nvSpPr>
        <p:spPr>
          <a:xfrm>
            <a:off x="1416573" y="4256153"/>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Sensitivity</a:t>
            </a:r>
            <a:endParaRPr lang="en-US" sz="2250" dirty="0">
              <a:latin typeface="Georgia" panose="02040502050405020303" pitchFamily="18" charset="0"/>
            </a:endParaRPr>
          </a:p>
        </p:txBody>
      </p:sp>
      <p:sp>
        <p:nvSpPr>
          <p:cNvPr id="15" name="Text 13"/>
          <p:cNvSpPr/>
          <p:nvPr/>
        </p:nvSpPr>
        <p:spPr>
          <a:xfrm>
            <a:off x="1416573" y="4656095"/>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sensory, emotional, interpersonal, or moral sensitivity may be heightened</a:t>
            </a:r>
            <a:endParaRPr lang="en-US" sz="1875" dirty="0">
              <a:latin typeface="Georgia" panose="02040502050405020303" pitchFamily="18" charset="0"/>
            </a:endParaRPr>
          </a:p>
        </p:txBody>
      </p:sp>
      <p:sp>
        <p:nvSpPr>
          <p:cNvPr id="16" name="Shape 14"/>
          <p:cNvSpPr/>
          <p:nvPr/>
        </p:nvSpPr>
        <p:spPr>
          <a:xfrm>
            <a:off x="9524999" y="4256153"/>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17" name="Text 15"/>
          <p:cNvSpPr/>
          <p:nvPr/>
        </p:nvSpPr>
        <p:spPr>
          <a:xfrm>
            <a:off x="9798573" y="4256153"/>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Perfectionism and high internal standards</a:t>
            </a:r>
            <a:endParaRPr lang="en-US" sz="2250" dirty="0">
              <a:latin typeface="Georgia" panose="02040502050405020303" pitchFamily="18" charset="0"/>
            </a:endParaRPr>
          </a:p>
        </p:txBody>
      </p:sp>
      <p:sp>
        <p:nvSpPr>
          <p:cNvPr id="18" name="Text 16"/>
          <p:cNvSpPr/>
          <p:nvPr/>
        </p:nvSpPr>
        <p:spPr>
          <a:xfrm>
            <a:off x="9798573" y="4656095"/>
            <a:ext cx="8081069" cy="352398"/>
          </a:xfrm>
          <a:prstGeom prst="rect">
            <a:avLst/>
          </a:prstGeom>
          <a:noFill/>
          <a:ln/>
        </p:spPr>
        <p:txBody>
          <a:bodyPr wrap="square" lIns="25400" tIns="25400" rIns="25400" bIns="25400" rtlCol="0" anchor="t">
            <a:normAutofit/>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can contribute to avoidance, frustration, or fear of failure</a:t>
            </a:r>
            <a:endParaRPr lang="en-US" sz="1875" dirty="0">
              <a:latin typeface="Georgia" panose="02040502050405020303" pitchFamily="18" charset="0"/>
            </a:endParaRPr>
          </a:p>
        </p:txBody>
      </p:sp>
      <p:sp>
        <p:nvSpPr>
          <p:cNvPr id="19" name="Shape 17"/>
          <p:cNvSpPr/>
          <p:nvPr/>
        </p:nvSpPr>
        <p:spPr>
          <a:xfrm>
            <a:off x="1143000" y="5532287"/>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20" name="Text 18"/>
          <p:cNvSpPr/>
          <p:nvPr/>
        </p:nvSpPr>
        <p:spPr>
          <a:xfrm>
            <a:off x="1416573" y="5532287"/>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Deep interests and complex thinking</a:t>
            </a:r>
            <a:endParaRPr lang="en-US" sz="2250" dirty="0">
              <a:latin typeface="Georgia" panose="02040502050405020303" pitchFamily="18" charset="0"/>
            </a:endParaRPr>
          </a:p>
        </p:txBody>
      </p:sp>
      <p:sp>
        <p:nvSpPr>
          <p:cNvPr id="21" name="Text 19"/>
          <p:cNvSpPr/>
          <p:nvPr/>
        </p:nvSpPr>
        <p:spPr>
          <a:xfrm>
            <a:off x="1416573" y="5932229"/>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strong curiosity, pattern recognition, and sustained engagement with meaningful topics</a:t>
            </a:r>
            <a:endParaRPr lang="en-US" sz="1875" dirty="0">
              <a:latin typeface="Georgia" panose="02040502050405020303" pitchFamily="18" charset="0"/>
            </a:endParaRPr>
          </a:p>
        </p:txBody>
      </p:sp>
      <p:sp>
        <p:nvSpPr>
          <p:cNvPr id="22" name="Shape 20"/>
          <p:cNvSpPr/>
          <p:nvPr/>
        </p:nvSpPr>
        <p:spPr>
          <a:xfrm>
            <a:off x="9524999" y="5532287"/>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23" name="Text 21"/>
          <p:cNvSpPr/>
          <p:nvPr/>
        </p:nvSpPr>
        <p:spPr>
          <a:xfrm>
            <a:off x="9798573" y="5532287"/>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Strong sense of fairness or justice</a:t>
            </a:r>
            <a:endParaRPr lang="en-US" sz="2250" dirty="0">
              <a:latin typeface="Georgia" panose="02040502050405020303" pitchFamily="18" charset="0"/>
            </a:endParaRPr>
          </a:p>
        </p:txBody>
      </p:sp>
      <p:sp>
        <p:nvSpPr>
          <p:cNvPr id="24" name="Text 22"/>
          <p:cNvSpPr/>
          <p:nvPr/>
        </p:nvSpPr>
        <p:spPr>
          <a:xfrm>
            <a:off x="9798573" y="5932229"/>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may contribute to intense reactions when something feels inconsistent or unfair</a:t>
            </a:r>
            <a:endParaRPr lang="en-US" sz="1875" dirty="0">
              <a:latin typeface="Georgia" panose="02040502050405020303" pitchFamily="18" charset="0"/>
            </a:endParaRPr>
          </a:p>
        </p:txBody>
      </p:sp>
      <p:sp>
        <p:nvSpPr>
          <p:cNvPr id="25" name="Shape 23"/>
          <p:cNvSpPr/>
          <p:nvPr/>
        </p:nvSpPr>
        <p:spPr>
          <a:xfrm>
            <a:off x="1143000" y="6808420"/>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26" name="Text 24"/>
          <p:cNvSpPr/>
          <p:nvPr/>
        </p:nvSpPr>
        <p:spPr>
          <a:xfrm>
            <a:off x="1416573" y="6808420"/>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Existential thinking</a:t>
            </a:r>
            <a:endParaRPr lang="en-US" sz="2250" dirty="0">
              <a:latin typeface="Georgia" panose="02040502050405020303" pitchFamily="18" charset="0"/>
            </a:endParaRPr>
          </a:p>
        </p:txBody>
      </p:sp>
      <p:sp>
        <p:nvSpPr>
          <p:cNvPr id="27" name="Text 25"/>
          <p:cNvSpPr/>
          <p:nvPr/>
        </p:nvSpPr>
        <p:spPr>
          <a:xfrm>
            <a:off x="1416573" y="7208362"/>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big questions about meaning, mortality, belonging, or the state of the world can emerge early</a:t>
            </a:r>
            <a:endParaRPr lang="en-US" sz="1875" dirty="0">
              <a:latin typeface="Georgia" panose="02040502050405020303" pitchFamily="18" charset="0"/>
            </a:endParaRPr>
          </a:p>
        </p:txBody>
      </p:sp>
      <p:sp>
        <p:nvSpPr>
          <p:cNvPr id="28" name="Shape 26"/>
          <p:cNvSpPr/>
          <p:nvPr/>
        </p:nvSpPr>
        <p:spPr>
          <a:xfrm>
            <a:off x="9524999" y="6808420"/>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29" name="Text 27"/>
          <p:cNvSpPr/>
          <p:nvPr/>
        </p:nvSpPr>
        <p:spPr>
          <a:xfrm>
            <a:off x="9798573" y="6808420"/>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Potential does not always equal performance</a:t>
            </a:r>
            <a:endParaRPr lang="en-US" sz="2250" dirty="0">
              <a:latin typeface="Georgia" panose="02040502050405020303" pitchFamily="18" charset="0"/>
            </a:endParaRPr>
          </a:p>
        </p:txBody>
      </p:sp>
      <p:sp>
        <p:nvSpPr>
          <p:cNvPr id="30" name="Text 28"/>
          <p:cNvSpPr/>
          <p:nvPr/>
        </p:nvSpPr>
        <p:spPr>
          <a:xfrm>
            <a:off x="9798573" y="7208362"/>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high ability can coexist with executive-function challenges, learning differences, anxiety, or burnout</a:t>
            </a:r>
            <a:endParaRPr lang="en-US" sz="1875" dirty="0">
              <a:latin typeface="Georgia" panose="02040502050405020303" pitchFamily="18" charset="0"/>
            </a:endParaRPr>
          </a:p>
        </p:txBody>
      </p:sp>
      <p:sp>
        <p:nvSpPr>
          <p:cNvPr id="31" name="Text 29"/>
          <p:cNvSpPr/>
          <p:nvPr/>
        </p:nvSpPr>
        <p:spPr>
          <a:xfrm>
            <a:off x="1143000" y="9565724"/>
            <a:ext cx="8725123" cy="302202"/>
          </a:xfrm>
          <a:prstGeom prst="rect">
            <a:avLst/>
          </a:prstGeom>
          <a:noFill/>
          <a:ln/>
        </p:spPr>
        <p:txBody>
          <a:bodyPr wrap="none" lIns="25400" tIns="25400" rIns="25400" bIns="25400" rtlCol="0" anchor="t">
            <a:normAutofit lnSpcReduction="10000"/>
          </a:bodyPr>
          <a:lstStyle/>
          <a:p>
            <a:pPr marL="0" indent="0" algn="l">
              <a:buNone/>
            </a:pPr>
            <a:r>
              <a:rPr lang="en-US" sz="1800" b="1" kern="0" spc="72" dirty="0">
                <a:solidFill>
                  <a:srgbClr val="55676C"/>
                </a:solidFill>
                <a:latin typeface="Georgia" panose="02040502050405020303" pitchFamily="18" charset="0"/>
                <a:ea typeface="Arial" pitchFamily="34" charset="-122"/>
                <a:cs typeface="Arial" pitchFamily="34" charset="-120"/>
              </a:rPr>
              <a:t>Understanding Neurodivergence — In a Counselling and Family Context</a:t>
            </a:r>
            <a:endParaRPr lang="en-US" sz="1800" dirty="0">
              <a:latin typeface="Georgia" panose="02040502050405020303" pitchFamily="18" charset="0"/>
            </a:endParaRPr>
          </a:p>
        </p:txBody>
      </p:sp>
      <p:sp>
        <p:nvSpPr>
          <p:cNvPr id="32" name="Shape 30"/>
          <p:cNvSpPr/>
          <p:nvPr/>
        </p:nvSpPr>
        <p:spPr>
          <a:xfrm>
            <a:off x="16624777" y="9640612"/>
            <a:ext cx="114259" cy="114259"/>
          </a:xfrm>
          <a:prstGeom prst="rect">
            <a:avLst/>
          </a:prstGeom>
          <a:solidFill>
            <a:srgbClr val="1C565D"/>
          </a:solidFill>
          <a:ln/>
        </p:spPr>
        <p:txBody>
          <a:bodyPr/>
          <a:lstStyle/>
          <a:p>
            <a:endParaRPr lang="en-US">
              <a:latin typeface="Georgia" panose="02040502050405020303" pitchFamily="18" charset="0"/>
            </a:endParaRPr>
          </a:p>
        </p:txBody>
      </p:sp>
      <p:sp>
        <p:nvSpPr>
          <p:cNvPr id="33" name="Text 31"/>
          <p:cNvSpPr/>
          <p:nvPr/>
        </p:nvSpPr>
        <p:spPr>
          <a:xfrm>
            <a:off x="16872374" y="9570054"/>
            <a:ext cx="348825" cy="293543"/>
          </a:xfrm>
          <a:prstGeom prst="rect">
            <a:avLst/>
          </a:prstGeom>
          <a:noFill/>
          <a:ln/>
        </p:spPr>
        <p:txBody>
          <a:bodyPr wrap="none" lIns="0" tIns="0" rIns="0" bIns="0" rtlCol="0" anchor="t">
            <a:normAutofit/>
          </a:bodyPr>
          <a:lstStyle/>
          <a:p>
            <a:pPr marL="0" indent="0" algn="l">
              <a:buNone/>
            </a:pPr>
            <a:r>
              <a:rPr lang="en-US" sz="1800" b="1" kern="0" spc="72" dirty="0">
                <a:solidFill>
                  <a:srgbClr val="1C565D"/>
                </a:solidFill>
                <a:latin typeface="Georgia" panose="02040502050405020303" pitchFamily="18" charset="0"/>
                <a:ea typeface="Arial" pitchFamily="34" charset="-122"/>
                <a:cs typeface="Arial" pitchFamily="34" charset="-120"/>
              </a:rPr>
              <a:t>05</a:t>
            </a:r>
            <a:endParaRPr lang="en-US" sz="1800" dirty="0">
              <a:latin typeface="Georgia" panose="02040502050405020303"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66673" cy="10287000"/>
          </a:xfrm>
          <a:prstGeom prst="rect">
            <a:avLst/>
          </a:prstGeom>
          <a:solidFill>
            <a:srgbClr val="1C565D"/>
          </a:solidFill>
          <a:ln/>
        </p:spPr>
        <p:txBody>
          <a:bodyPr/>
          <a:lstStyle/>
          <a:p>
            <a:endParaRPr lang="en-US">
              <a:latin typeface="Georgia" panose="02040502050405020303" pitchFamily="18" charset="0"/>
            </a:endParaRPr>
          </a:p>
        </p:txBody>
      </p:sp>
      <p:sp>
        <p:nvSpPr>
          <p:cNvPr id="3" name="Shape 1"/>
          <p:cNvSpPr/>
          <p:nvPr/>
        </p:nvSpPr>
        <p:spPr>
          <a:xfrm>
            <a:off x="0" y="0"/>
            <a:ext cx="266673" cy="3394702"/>
          </a:xfrm>
          <a:prstGeom prst="rect">
            <a:avLst/>
          </a:prstGeom>
          <a:solidFill>
            <a:srgbClr val="528B8E"/>
          </a:solidFill>
          <a:ln/>
        </p:spPr>
        <p:txBody>
          <a:bodyPr/>
          <a:lstStyle/>
          <a:p>
            <a:endParaRPr lang="en-US">
              <a:latin typeface="Georgia" panose="02040502050405020303" pitchFamily="18" charset="0"/>
            </a:endParaRPr>
          </a:p>
        </p:txBody>
      </p:sp>
      <p:sp>
        <p:nvSpPr>
          <p:cNvPr id="4" name="Shape 2"/>
          <p:cNvSpPr/>
          <p:nvPr/>
        </p:nvSpPr>
        <p:spPr>
          <a:xfrm>
            <a:off x="1143000" y="994037"/>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5" name="Text 3"/>
          <p:cNvSpPr/>
          <p:nvPr/>
        </p:nvSpPr>
        <p:spPr>
          <a:xfrm>
            <a:off x="1847769" y="880589"/>
            <a:ext cx="2507916" cy="293543"/>
          </a:xfrm>
          <a:prstGeom prst="rect">
            <a:avLst/>
          </a:prstGeom>
          <a:noFill/>
          <a:ln/>
        </p:spPr>
        <p:txBody>
          <a:bodyPr wrap="square" lIns="0" tIns="0" rIns="0" bIns="0" rtlCol="0" anchor="t">
            <a:normAutofit fontScale="85000" lnSpcReduction="100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PRESENTATIONS</a:t>
            </a:r>
            <a:endParaRPr lang="en-US" sz="1800" dirty="0">
              <a:latin typeface="Georgia" panose="02040502050405020303" pitchFamily="18" charset="0"/>
            </a:endParaRPr>
          </a:p>
        </p:txBody>
      </p:sp>
      <p:sp>
        <p:nvSpPr>
          <p:cNvPr id="6" name="Text 4"/>
          <p:cNvSpPr/>
          <p:nvPr/>
        </p:nvSpPr>
        <p:spPr>
          <a:xfrm>
            <a:off x="1143000" y="1387958"/>
            <a:ext cx="16554450" cy="646131"/>
          </a:xfrm>
          <a:prstGeom prst="rect">
            <a:avLst/>
          </a:prstGeom>
          <a:noFill/>
          <a:ln/>
        </p:spPr>
        <p:txBody>
          <a:bodyPr wrap="square" lIns="25400" tIns="25400" rIns="25400" bIns="25400" rtlCol="0" anchor="t">
            <a:normAutofit lnSpcReduction="10000"/>
          </a:bodyPr>
          <a:lstStyle/>
          <a:p>
            <a:pPr marL="0" indent="0" algn="l">
              <a:lnSpc>
                <a:spcPct val="100320"/>
              </a:lnSpc>
              <a:buNone/>
            </a:pPr>
            <a:r>
              <a:rPr lang="en-US" sz="4200" kern="0" spc="-34" dirty="0">
                <a:solidFill>
                  <a:srgbClr val="1C2A2E"/>
                </a:solidFill>
                <a:latin typeface="Georgia" panose="02040502050405020303" pitchFamily="18" charset="0"/>
                <a:ea typeface="Georgia" pitchFamily="34" charset="-122"/>
                <a:cs typeface="Georgia" pitchFamily="34" charset="-120"/>
              </a:rPr>
              <a:t>ADHD: Not an Attention Problem</a:t>
            </a:r>
            <a:endParaRPr lang="en-US" sz="4200" dirty="0">
              <a:latin typeface="Georgia" panose="02040502050405020303" pitchFamily="18" charset="0"/>
            </a:endParaRPr>
          </a:p>
        </p:txBody>
      </p:sp>
      <p:sp>
        <p:nvSpPr>
          <p:cNvPr id="7" name="Shape 5"/>
          <p:cNvSpPr/>
          <p:nvPr/>
        </p:nvSpPr>
        <p:spPr>
          <a:xfrm>
            <a:off x="1143000" y="3203300"/>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8" name="Text 6"/>
          <p:cNvSpPr/>
          <p:nvPr/>
        </p:nvSpPr>
        <p:spPr>
          <a:xfrm>
            <a:off x="1416573" y="3203300"/>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Regulation of attention</a:t>
            </a:r>
            <a:endParaRPr lang="en-US" sz="2250" dirty="0">
              <a:latin typeface="Georgia" panose="02040502050405020303" pitchFamily="18" charset="0"/>
            </a:endParaRPr>
          </a:p>
        </p:txBody>
      </p:sp>
      <p:sp>
        <p:nvSpPr>
          <p:cNvPr id="9" name="Text 7"/>
          <p:cNvSpPr/>
          <p:nvPr/>
        </p:nvSpPr>
        <p:spPr>
          <a:xfrm>
            <a:off x="1416573" y="3603242"/>
            <a:ext cx="8081069" cy="352398"/>
          </a:xfrm>
          <a:prstGeom prst="rect">
            <a:avLst/>
          </a:prstGeom>
          <a:noFill/>
          <a:ln/>
        </p:spPr>
        <p:txBody>
          <a:bodyPr wrap="square" lIns="25400" tIns="25400" rIns="25400" bIns="25400" rtlCol="0" anchor="t">
            <a:normAutofit/>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difficulty directing, sustaining, or shifting attention consistently</a:t>
            </a:r>
            <a:endParaRPr lang="en-US" sz="1875" dirty="0">
              <a:latin typeface="Georgia" panose="02040502050405020303" pitchFamily="18" charset="0"/>
            </a:endParaRPr>
          </a:p>
        </p:txBody>
      </p:sp>
      <p:sp>
        <p:nvSpPr>
          <p:cNvPr id="10" name="Shape 8"/>
          <p:cNvSpPr/>
          <p:nvPr/>
        </p:nvSpPr>
        <p:spPr>
          <a:xfrm>
            <a:off x="9524999" y="3203300"/>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11" name="Text 9"/>
          <p:cNvSpPr/>
          <p:nvPr/>
        </p:nvSpPr>
        <p:spPr>
          <a:xfrm>
            <a:off x="9798573" y="3203300"/>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Executive functioning</a:t>
            </a:r>
            <a:endParaRPr lang="en-US" sz="2250" dirty="0">
              <a:latin typeface="Georgia" panose="02040502050405020303" pitchFamily="18" charset="0"/>
            </a:endParaRPr>
          </a:p>
        </p:txBody>
      </p:sp>
      <p:sp>
        <p:nvSpPr>
          <p:cNvPr id="12" name="Text 10"/>
          <p:cNvSpPr/>
          <p:nvPr/>
        </p:nvSpPr>
        <p:spPr>
          <a:xfrm>
            <a:off x="9798573" y="3603242"/>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challenges with planning, organization, working memory, inhibition, and follow-through</a:t>
            </a:r>
            <a:endParaRPr lang="en-US" sz="1875" dirty="0">
              <a:latin typeface="Georgia" panose="02040502050405020303" pitchFamily="18" charset="0"/>
            </a:endParaRPr>
          </a:p>
        </p:txBody>
      </p:sp>
      <p:sp>
        <p:nvSpPr>
          <p:cNvPr id="13" name="Shape 11"/>
          <p:cNvSpPr/>
          <p:nvPr/>
        </p:nvSpPr>
        <p:spPr>
          <a:xfrm>
            <a:off x="1143000" y="4479434"/>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14" name="Text 12"/>
          <p:cNvSpPr/>
          <p:nvPr/>
        </p:nvSpPr>
        <p:spPr>
          <a:xfrm>
            <a:off x="1416573" y="4479434"/>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Activation and initiation</a:t>
            </a:r>
            <a:endParaRPr lang="en-US" sz="2250" dirty="0">
              <a:latin typeface="Georgia" panose="02040502050405020303" pitchFamily="18" charset="0"/>
            </a:endParaRPr>
          </a:p>
        </p:txBody>
      </p:sp>
      <p:sp>
        <p:nvSpPr>
          <p:cNvPr id="15" name="Text 13"/>
          <p:cNvSpPr/>
          <p:nvPr/>
        </p:nvSpPr>
        <p:spPr>
          <a:xfrm>
            <a:off x="1416573" y="4879376"/>
            <a:ext cx="8081069" cy="352398"/>
          </a:xfrm>
          <a:prstGeom prst="rect">
            <a:avLst/>
          </a:prstGeom>
          <a:noFill/>
          <a:ln/>
        </p:spPr>
        <p:txBody>
          <a:bodyPr wrap="square" lIns="25400" tIns="25400" rIns="25400" bIns="25400" rtlCol="0" anchor="t">
            <a:normAutofit/>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knowing what to do but struggling to get started</a:t>
            </a:r>
            <a:endParaRPr lang="en-US" sz="1875" dirty="0">
              <a:latin typeface="Georgia" panose="02040502050405020303" pitchFamily="18" charset="0"/>
            </a:endParaRPr>
          </a:p>
        </p:txBody>
      </p:sp>
      <p:sp>
        <p:nvSpPr>
          <p:cNvPr id="16" name="Shape 14"/>
          <p:cNvSpPr/>
          <p:nvPr/>
        </p:nvSpPr>
        <p:spPr>
          <a:xfrm>
            <a:off x="9524999" y="4479434"/>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17" name="Text 15"/>
          <p:cNvSpPr/>
          <p:nvPr/>
        </p:nvSpPr>
        <p:spPr>
          <a:xfrm>
            <a:off x="9798573" y="4479434"/>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Time perception</a:t>
            </a:r>
            <a:endParaRPr lang="en-US" sz="2250" dirty="0">
              <a:latin typeface="Georgia" panose="02040502050405020303" pitchFamily="18" charset="0"/>
            </a:endParaRPr>
          </a:p>
        </p:txBody>
      </p:sp>
      <p:sp>
        <p:nvSpPr>
          <p:cNvPr id="18" name="Text 16"/>
          <p:cNvSpPr/>
          <p:nvPr/>
        </p:nvSpPr>
        <p:spPr>
          <a:xfrm>
            <a:off x="9798573" y="4879376"/>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difficulty estimating time, transitioning, or anticipating how long tasks will take</a:t>
            </a:r>
            <a:endParaRPr lang="en-US" sz="1875" dirty="0">
              <a:latin typeface="Georgia" panose="02040502050405020303" pitchFamily="18" charset="0"/>
            </a:endParaRPr>
          </a:p>
        </p:txBody>
      </p:sp>
      <p:sp>
        <p:nvSpPr>
          <p:cNvPr id="19" name="Shape 17"/>
          <p:cNvSpPr/>
          <p:nvPr/>
        </p:nvSpPr>
        <p:spPr>
          <a:xfrm>
            <a:off x="1143000" y="5755568"/>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20" name="Text 18"/>
          <p:cNvSpPr/>
          <p:nvPr/>
        </p:nvSpPr>
        <p:spPr>
          <a:xfrm>
            <a:off x="1416573" y="5755568"/>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Motivation and interest-based attention</a:t>
            </a:r>
            <a:endParaRPr lang="en-US" sz="2250" dirty="0">
              <a:latin typeface="Georgia" panose="02040502050405020303" pitchFamily="18" charset="0"/>
            </a:endParaRPr>
          </a:p>
        </p:txBody>
      </p:sp>
      <p:sp>
        <p:nvSpPr>
          <p:cNvPr id="21" name="Text 19"/>
          <p:cNvSpPr/>
          <p:nvPr/>
        </p:nvSpPr>
        <p:spPr>
          <a:xfrm>
            <a:off x="1416573" y="6155510"/>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performance may vary dramatically depending on interest, novelty, urgency, or reward</a:t>
            </a:r>
            <a:endParaRPr lang="en-US" sz="1875" dirty="0">
              <a:latin typeface="Georgia" panose="02040502050405020303" pitchFamily="18" charset="0"/>
            </a:endParaRPr>
          </a:p>
        </p:txBody>
      </p:sp>
      <p:sp>
        <p:nvSpPr>
          <p:cNvPr id="22" name="Shape 20"/>
          <p:cNvSpPr/>
          <p:nvPr/>
        </p:nvSpPr>
        <p:spPr>
          <a:xfrm>
            <a:off x="9524999" y="5755568"/>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23" name="Text 21"/>
          <p:cNvSpPr/>
          <p:nvPr/>
        </p:nvSpPr>
        <p:spPr>
          <a:xfrm>
            <a:off x="9798573" y="5755568"/>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Emotional regulation</a:t>
            </a:r>
            <a:endParaRPr lang="en-US" sz="2250" dirty="0">
              <a:latin typeface="Georgia" panose="02040502050405020303" pitchFamily="18" charset="0"/>
            </a:endParaRPr>
          </a:p>
        </p:txBody>
      </p:sp>
      <p:sp>
        <p:nvSpPr>
          <p:cNvPr id="24" name="Text 22"/>
          <p:cNvSpPr/>
          <p:nvPr/>
        </p:nvSpPr>
        <p:spPr>
          <a:xfrm>
            <a:off x="9798573" y="6155510"/>
            <a:ext cx="8081069" cy="352398"/>
          </a:xfrm>
          <a:prstGeom prst="rect">
            <a:avLst/>
          </a:prstGeom>
          <a:noFill/>
          <a:ln/>
        </p:spPr>
        <p:txBody>
          <a:bodyPr wrap="square" lIns="25400" tIns="25400" rIns="25400" bIns="25400" rtlCol="0" anchor="t">
            <a:normAutofit/>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emotions may come on quickly, feel intense, and be harder to shift</a:t>
            </a:r>
            <a:endParaRPr lang="en-US" sz="1875" dirty="0">
              <a:latin typeface="Georgia" panose="02040502050405020303" pitchFamily="18" charset="0"/>
            </a:endParaRPr>
          </a:p>
        </p:txBody>
      </p:sp>
      <p:sp>
        <p:nvSpPr>
          <p:cNvPr id="25" name="Shape 23"/>
          <p:cNvSpPr/>
          <p:nvPr/>
        </p:nvSpPr>
        <p:spPr>
          <a:xfrm>
            <a:off x="1143000" y="7031701"/>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26" name="Text 24"/>
          <p:cNvSpPr/>
          <p:nvPr/>
        </p:nvSpPr>
        <p:spPr>
          <a:xfrm>
            <a:off x="1416573" y="7031701"/>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Inconsistency</a:t>
            </a:r>
            <a:endParaRPr lang="en-US" sz="2250" dirty="0">
              <a:latin typeface="Georgia" panose="02040502050405020303" pitchFamily="18" charset="0"/>
            </a:endParaRPr>
          </a:p>
        </p:txBody>
      </p:sp>
      <p:sp>
        <p:nvSpPr>
          <p:cNvPr id="27" name="Text 25"/>
          <p:cNvSpPr/>
          <p:nvPr/>
        </p:nvSpPr>
        <p:spPr>
          <a:xfrm>
            <a:off x="1416573" y="7431643"/>
            <a:ext cx="8081069" cy="352398"/>
          </a:xfrm>
          <a:prstGeom prst="rect">
            <a:avLst/>
          </a:prstGeom>
          <a:noFill/>
          <a:ln/>
        </p:spPr>
        <p:txBody>
          <a:bodyPr wrap="square" lIns="25400" tIns="25400" rIns="25400" bIns="25400" rtlCol="0" anchor="t">
            <a:normAutofit/>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skills may be present but not reliably accessible across situations</a:t>
            </a:r>
            <a:endParaRPr lang="en-US" sz="1875" dirty="0">
              <a:latin typeface="Georgia" panose="02040502050405020303" pitchFamily="18" charset="0"/>
            </a:endParaRPr>
          </a:p>
        </p:txBody>
      </p:sp>
      <p:sp>
        <p:nvSpPr>
          <p:cNvPr id="28" name="Shape 26"/>
          <p:cNvSpPr/>
          <p:nvPr/>
        </p:nvSpPr>
        <p:spPr>
          <a:xfrm>
            <a:off x="9524999" y="7031701"/>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29" name="Text 27"/>
          <p:cNvSpPr/>
          <p:nvPr/>
        </p:nvSpPr>
        <p:spPr>
          <a:xfrm>
            <a:off x="9798573" y="7031701"/>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Hyperfocus</a:t>
            </a:r>
            <a:endParaRPr lang="en-US" sz="2250" dirty="0">
              <a:latin typeface="Georgia" panose="02040502050405020303" pitchFamily="18" charset="0"/>
            </a:endParaRPr>
          </a:p>
        </p:txBody>
      </p:sp>
      <p:sp>
        <p:nvSpPr>
          <p:cNvPr id="30" name="Text 28"/>
          <p:cNvSpPr/>
          <p:nvPr/>
        </p:nvSpPr>
        <p:spPr>
          <a:xfrm>
            <a:off x="9798573" y="7431643"/>
            <a:ext cx="7566819" cy="666696"/>
          </a:xfrm>
          <a:prstGeom prst="rect">
            <a:avLst/>
          </a:prstGeom>
          <a:noFill/>
          <a:ln/>
        </p:spPr>
        <p:txBody>
          <a:bodyPr wrap="square" lIns="25400" tIns="25400" rIns="25400" bIns="25400" rtlCol="0" anchor="t">
            <a:normAutofit/>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sustained attention can be very strong when the task is highly engaging</a:t>
            </a:r>
            <a:endParaRPr lang="en-US" sz="1875" dirty="0">
              <a:latin typeface="Georgia" panose="02040502050405020303" pitchFamily="18" charset="0"/>
            </a:endParaRPr>
          </a:p>
        </p:txBody>
      </p:sp>
      <p:sp>
        <p:nvSpPr>
          <p:cNvPr id="31" name="Text 29"/>
          <p:cNvSpPr/>
          <p:nvPr/>
        </p:nvSpPr>
        <p:spPr>
          <a:xfrm>
            <a:off x="1143000" y="9565724"/>
            <a:ext cx="8725123" cy="302202"/>
          </a:xfrm>
          <a:prstGeom prst="rect">
            <a:avLst/>
          </a:prstGeom>
          <a:noFill/>
          <a:ln/>
        </p:spPr>
        <p:txBody>
          <a:bodyPr wrap="none" lIns="25400" tIns="25400" rIns="25400" bIns="25400" rtlCol="0" anchor="t">
            <a:normAutofit lnSpcReduction="10000"/>
          </a:bodyPr>
          <a:lstStyle/>
          <a:p>
            <a:pPr marL="0" indent="0" algn="l">
              <a:buNone/>
            </a:pPr>
            <a:r>
              <a:rPr lang="en-US" sz="1800" b="1" kern="0" spc="72" dirty="0">
                <a:solidFill>
                  <a:srgbClr val="55676C"/>
                </a:solidFill>
                <a:latin typeface="Georgia" panose="02040502050405020303" pitchFamily="18" charset="0"/>
                <a:ea typeface="Arial" pitchFamily="34" charset="-122"/>
                <a:cs typeface="Arial" pitchFamily="34" charset="-120"/>
              </a:rPr>
              <a:t>Understanding Neurodivergence — In a Counselling and Family Context</a:t>
            </a:r>
            <a:endParaRPr lang="en-US" sz="1800" dirty="0">
              <a:latin typeface="Georgia" panose="02040502050405020303" pitchFamily="18" charset="0"/>
            </a:endParaRPr>
          </a:p>
        </p:txBody>
      </p:sp>
      <p:sp>
        <p:nvSpPr>
          <p:cNvPr id="32" name="Shape 30"/>
          <p:cNvSpPr/>
          <p:nvPr/>
        </p:nvSpPr>
        <p:spPr>
          <a:xfrm>
            <a:off x="16624777" y="9640612"/>
            <a:ext cx="114259" cy="114259"/>
          </a:xfrm>
          <a:prstGeom prst="rect">
            <a:avLst/>
          </a:prstGeom>
          <a:solidFill>
            <a:srgbClr val="1C565D"/>
          </a:solidFill>
          <a:ln/>
        </p:spPr>
        <p:txBody>
          <a:bodyPr/>
          <a:lstStyle/>
          <a:p>
            <a:endParaRPr lang="en-US">
              <a:latin typeface="Georgia" panose="02040502050405020303" pitchFamily="18" charset="0"/>
            </a:endParaRPr>
          </a:p>
        </p:txBody>
      </p:sp>
      <p:sp>
        <p:nvSpPr>
          <p:cNvPr id="33" name="Text 31"/>
          <p:cNvSpPr/>
          <p:nvPr/>
        </p:nvSpPr>
        <p:spPr>
          <a:xfrm>
            <a:off x="16872374" y="9570054"/>
            <a:ext cx="348825" cy="293543"/>
          </a:xfrm>
          <a:prstGeom prst="rect">
            <a:avLst/>
          </a:prstGeom>
          <a:noFill/>
          <a:ln/>
        </p:spPr>
        <p:txBody>
          <a:bodyPr wrap="none" lIns="0" tIns="0" rIns="0" bIns="0" rtlCol="0" anchor="t">
            <a:normAutofit/>
          </a:bodyPr>
          <a:lstStyle/>
          <a:p>
            <a:pPr marL="0" indent="0" algn="l">
              <a:buNone/>
            </a:pPr>
            <a:r>
              <a:rPr lang="en-US" sz="1800" b="1" kern="0" spc="72" dirty="0">
                <a:solidFill>
                  <a:srgbClr val="1C565D"/>
                </a:solidFill>
                <a:latin typeface="Georgia" panose="02040502050405020303" pitchFamily="18" charset="0"/>
                <a:ea typeface="Arial" pitchFamily="34" charset="-122"/>
                <a:cs typeface="Arial" pitchFamily="34" charset="-120"/>
              </a:rPr>
              <a:t>06</a:t>
            </a:r>
            <a:endParaRPr lang="en-US" sz="1800" dirty="0">
              <a:latin typeface="Georgia" panose="02040502050405020303"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266673" cy="10287000"/>
          </a:xfrm>
          <a:prstGeom prst="rect">
            <a:avLst/>
          </a:prstGeom>
          <a:solidFill>
            <a:srgbClr val="1C565D"/>
          </a:solidFill>
          <a:ln/>
        </p:spPr>
        <p:txBody>
          <a:bodyPr/>
          <a:lstStyle/>
          <a:p>
            <a:endParaRPr lang="en-US">
              <a:latin typeface="Georgia" panose="02040502050405020303" pitchFamily="18" charset="0"/>
            </a:endParaRPr>
          </a:p>
        </p:txBody>
      </p:sp>
      <p:sp>
        <p:nvSpPr>
          <p:cNvPr id="3" name="Shape 1"/>
          <p:cNvSpPr/>
          <p:nvPr/>
        </p:nvSpPr>
        <p:spPr>
          <a:xfrm>
            <a:off x="0" y="0"/>
            <a:ext cx="266673" cy="3394702"/>
          </a:xfrm>
          <a:prstGeom prst="rect">
            <a:avLst/>
          </a:prstGeom>
          <a:solidFill>
            <a:srgbClr val="528B8E"/>
          </a:solidFill>
          <a:ln/>
        </p:spPr>
        <p:txBody>
          <a:bodyPr/>
          <a:lstStyle/>
          <a:p>
            <a:endParaRPr lang="en-US">
              <a:latin typeface="Georgia" panose="02040502050405020303" pitchFamily="18" charset="0"/>
            </a:endParaRPr>
          </a:p>
        </p:txBody>
      </p:sp>
      <p:sp>
        <p:nvSpPr>
          <p:cNvPr id="4" name="Shape 2"/>
          <p:cNvSpPr/>
          <p:nvPr/>
        </p:nvSpPr>
        <p:spPr>
          <a:xfrm>
            <a:off x="1143000" y="994037"/>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5" name="Text 3"/>
          <p:cNvSpPr/>
          <p:nvPr/>
        </p:nvSpPr>
        <p:spPr>
          <a:xfrm>
            <a:off x="1847769" y="880589"/>
            <a:ext cx="2507916" cy="293543"/>
          </a:xfrm>
          <a:prstGeom prst="rect">
            <a:avLst/>
          </a:prstGeom>
          <a:noFill/>
          <a:ln/>
        </p:spPr>
        <p:txBody>
          <a:bodyPr wrap="square" lIns="0" tIns="0" rIns="0" bIns="0" rtlCol="0" anchor="t">
            <a:normAutofit fontScale="85000" lnSpcReduction="100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PRESENTATIONS</a:t>
            </a:r>
            <a:endParaRPr lang="en-US" sz="1800" dirty="0">
              <a:latin typeface="Georgia" panose="02040502050405020303" pitchFamily="18" charset="0"/>
            </a:endParaRPr>
          </a:p>
        </p:txBody>
      </p:sp>
      <p:sp>
        <p:nvSpPr>
          <p:cNvPr id="6" name="Text 4"/>
          <p:cNvSpPr/>
          <p:nvPr/>
        </p:nvSpPr>
        <p:spPr>
          <a:xfrm>
            <a:off x="1143000" y="1387958"/>
            <a:ext cx="16554450" cy="646131"/>
          </a:xfrm>
          <a:prstGeom prst="rect">
            <a:avLst/>
          </a:prstGeom>
          <a:noFill/>
          <a:ln/>
        </p:spPr>
        <p:txBody>
          <a:bodyPr wrap="square" lIns="25400" tIns="25400" rIns="25400" bIns="25400" rtlCol="0" anchor="t">
            <a:normAutofit lnSpcReduction="10000"/>
          </a:bodyPr>
          <a:lstStyle/>
          <a:p>
            <a:pPr marL="0" indent="0" algn="l">
              <a:lnSpc>
                <a:spcPct val="100320"/>
              </a:lnSpc>
              <a:buNone/>
            </a:pPr>
            <a:r>
              <a:rPr lang="en-US" sz="4200" kern="0" spc="-34" dirty="0">
                <a:solidFill>
                  <a:srgbClr val="1C2A2E"/>
                </a:solidFill>
                <a:latin typeface="Georgia" panose="02040502050405020303" pitchFamily="18" charset="0"/>
                <a:ea typeface="Georgia" pitchFamily="34" charset="-122"/>
                <a:cs typeface="Georgia" pitchFamily="34" charset="-120"/>
              </a:rPr>
              <a:t>ADHD: Various Impacts on Regulation and Functioning</a:t>
            </a:r>
            <a:endParaRPr lang="en-US" sz="4200" dirty="0">
              <a:latin typeface="Georgia" panose="02040502050405020303" pitchFamily="18" charset="0"/>
            </a:endParaRPr>
          </a:p>
        </p:txBody>
      </p:sp>
      <p:sp>
        <p:nvSpPr>
          <p:cNvPr id="7" name="Shape 5"/>
          <p:cNvSpPr/>
          <p:nvPr/>
        </p:nvSpPr>
        <p:spPr>
          <a:xfrm>
            <a:off x="1143000" y="3276552"/>
            <a:ext cx="7886673" cy="1699347"/>
          </a:xfrm>
          <a:prstGeom prst="rect">
            <a:avLst/>
          </a:prstGeom>
          <a:solidFill>
            <a:srgbClr val="FFFFFF"/>
          </a:solidFill>
          <a:ln/>
        </p:spPr>
        <p:txBody>
          <a:bodyPr/>
          <a:lstStyle/>
          <a:p>
            <a:endParaRPr lang="en-US">
              <a:latin typeface="Georgia" panose="02040502050405020303" pitchFamily="18" charset="0"/>
            </a:endParaRPr>
          </a:p>
        </p:txBody>
      </p:sp>
      <p:sp>
        <p:nvSpPr>
          <p:cNvPr id="8" name="Shape 6"/>
          <p:cNvSpPr/>
          <p:nvPr/>
        </p:nvSpPr>
        <p:spPr>
          <a:xfrm>
            <a:off x="1143000" y="3276552"/>
            <a:ext cx="7886673" cy="56284"/>
          </a:xfrm>
          <a:prstGeom prst="rect">
            <a:avLst/>
          </a:prstGeom>
          <a:solidFill>
            <a:srgbClr val="1C565D"/>
          </a:solidFill>
          <a:ln/>
        </p:spPr>
        <p:txBody>
          <a:bodyPr/>
          <a:lstStyle/>
          <a:p>
            <a:endParaRPr lang="en-US">
              <a:latin typeface="Georgia" panose="02040502050405020303" pitchFamily="18" charset="0"/>
            </a:endParaRPr>
          </a:p>
        </p:txBody>
      </p:sp>
      <p:sp>
        <p:nvSpPr>
          <p:cNvPr id="9" name="Text 7"/>
          <p:cNvSpPr/>
          <p:nvPr/>
        </p:nvSpPr>
        <p:spPr>
          <a:xfrm>
            <a:off x="1428750" y="3637596"/>
            <a:ext cx="7534628" cy="1033557"/>
          </a:xfrm>
          <a:prstGeom prst="rect">
            <a:avLst/>
          </a:prstGeom>
          <a:noFill/>
          <a:ln/>
        </p:spPr>
        <p:txBody>
          <a:bodyPr wrap="square" lIns="25400" tIns="25400" rIns="25400" bIns="25400" rtlCol="0" anchor="t">
            <a:normAutofit/>
          </a:bodyPr>
          <a:lstStyle/>
          <a:p>
            <a:pPr marL="0" indent="0" algn="l">
              <a:lnSpc>
                <a:spcPct val="116133"/>
              </a:lnSpc>
              <a:buNone/>
            </a:pPr>
            <a:r>
              <a:rPr lang="en-US" sz="1950" dirty="0">
                <a:solidFill>
                  <a:srgbClr val="55676C"/>
                </a:solidFill>
                <a:latin typeface="Georgia" panose="02040502050405020303" pitchFamily="18" charset="0"/>
                <a:ea typeface="Arial" pitchFamily="34" charset="-122"/>
                <a:cs typeface="Arial" pitchFamily="34" charset="-120"/>
              </a:rPr>
              <a:t>Sleep, hunger/nutrition, stress, sensory load, movement, and time of day can significantly affect regulation and executive functioning</a:t>
            </a:r>
            <a:endParaRPr lang="en-US" sz="1950" dirty="0">
              <a:latin typeface="Georgia" panose="02040502050405020303" pitchFamily="18" charset="0"/>
            </a:endParaRPr>
          </a:p>
        </p:txBody>
      </p:sp>
      <p:sp>
        <p:nvSpPr>
          <p:cNvPr id="10" name="Shape 8"/>
          <p:cNvSpPr/>
          <p:nvPr/>
        </p:nvSpPr>
        <p:spPr>
          <a:xfrm>
            <a:off x="9258259" y="3276552"/>
            <a:ext cx="7886740" cy="1699347"/>
          </a:xfrm>
          <a:prstGeom prst="rect">
            <a:avLst/>
          </a:prstGeom>
          <a:solidFill>
            <a:srgbClr val="FFFFFF"/>
          </a:solidFill>
          <a:ln/>
        </p:spPr>
        <p:txBody>
          <a:bodyPr/>
          <a:lstStyle/>
          <a:p>
            <a:endParaRPr lang="en-US">
              <a:latin typeface="Georgia" panose="02040502050405020303" pitchFamily="18" charset="0"/>
            </a:endParaRPr>
          </a:p>
        </p:txBody>
      </p:sp>
      <p:sp>
        <p:nvSpPr>
          <p:cNvPr id="11" name="Shape 9"/>
          <p:cNvSpPr/>
          <p:nvPr/>
        </p:nvSpPr>
        <p:spPr>
          <a:xfrm>
            <a:off x="9258259" y="3276552"/>
            <a:ext cx="7886740" cy="56284"/>
          </a:xfrm>
          <a:prstGeom prst="rect">
            <a:avLst/>
          </a:prstGeom>
          <a:solidFill>
            <a:srgbClr val="1C565D"/>
          </a:solidFill>
          <a:ln/>
        </p:spPr>
        <p:txBody>
          <a:bodyPr/>
          <a:lstStyle/>
          <a:p>
            <a:endParaRPr lang="en-US">
              <a:latin typeface="Georgia" panose="02040502050405020303" pitchFamily="18" charset="0"/>
            </a:endParaRPr>
          </a:p>
        </p:txBody>
      </p:sp>
      <p:sp>
        <p:nvSpPr>
          <p:cNvPr id="12" name="Text 10"/>
          <p:cNvSpPr/>
          <p:nvPr/>
        </p:nvSpPr>
        <p:spPr>
          <a:xfrm>
            <a:off x="9544009" y="3803471"/>
            <a:ext cx="7534697" cy="701738"/>
          </a:xfrm>
          <a:prstGeom prst="rect">
            <a:avLst/>
          </a:prstGeom>
          <a:noFill/>
          <a:ln/>
        </p:spPr>
        <p:txBody>
          <a:bodyPr wrap="square" lIns="25400" tIns="25400" rIns="25400" bIns="25400" rtlCol="0" anchor="t">
            <a:normAutofit lnSpcReduction="10000"/>
          </a:bodyPr>
          <a:lstStyle/>
          <a:p>
            <a:pPr marL="0" indent="0" algn="l">
              <a:lnSpc>
                <a:spcPct val="116133"/>
              </a:lnSpc>
              <a:buNone/>
            </a:pPr>
            <a:r>
              <a:rPr lang="en-US" sz="1950" dirty="0">
                <a:solidFill>
                  <a:srgbClr val="55676C"/>
                </a:solidFill>
                <a:latin typeface="Georgia" panose="02040502050405020303" pitchFamily="18" charset="0"/>
                <a:ea typeface="Arial" pitchFamily="34" charset="-122"/>
                <a:cs typeface="Arial" pitchFamily="34" charset="-120"/>
              </a:rPr>
              <a:t>Capacity may look very different when a person is depleted versus well-supported</a:t>
            </a:r>
            <a:endParaRPr lang="en-US" sz="1950" dirty="0">
              <a:latin typeface="Georgia" panose="02040502050405020303" pitchFamily="18" charset="0"/>
            </a:endParaRPr>
          </a:p>
        </p:txBody>
      </p:sp>
      <p:sp>
        <p:nvSpPr>
          <p:cNvPr id="13" name="Shape 11"/>
          <p:cNvSpPr/>
          <p:nvPr/>
        </p:nvSpPr>
        <p:spPr>
          <a:xfrm>
            <a:off x="1143000" y="5204485"/>
            <a:ext cx="7886673" cy="1699347"/>
          </a:xfrm>
          <a:prstGeom prst="rect">
            <a:avLst/>
          </a:prstGeom>
          <a:solidFill>
            <a:srgbClr val="FFFFFF"/>
          </a:solidFill>
          <a:ln/>
        </p:spPr>
        <p:txBody>
          <a:bodyPr/>
          <a:lstStyle/>
          <a:p>
            <a:endParaRPr lang="en-US">
              <a:latin typeface="Georgia" panose="02040502050405020303" pitchFamily="18" charset="0"/>
            </a:endParaRPr>
          </a:p>
        </p:txBody>
      </p:sp>
      <p:sp>
        <p:nvSpPr>
          <p:cNvPr id="14" name="Shape 12"/>
          <p:cNvSpPr/>
          <p:nvPr/>
        </p:nvSpPr>
        <p:spPr>
          <a:xfrm>
            <a:off x="1143000" y="5204485"/>
            <a:ext cx="7886673" cy="56284"/>
          </a:xfrm>
          <a:prstGeom prst="rect">
            <a:avLst/>
          </a:prstGeom>
          <a:solidFill>
            <a:srgbClr val="1C565D"/>
          </a:solidFill>
          <a:ln/>
        </p:spPr>
        <p:txBody>
          <a:bodyPr/>
          <a:lstStyle/>
          <a:p>
            <a:endParaRPr lang="en-US">
              <a:latin typeface="Georgia" panose="02040502050405020303" pitchFamily="18" charset="0"/>
            </a:endParaRPr>
          </a:p>
        </p:txBody>
      </p:sp>
      <p:sp>
        <p:nvSpPr>
          <p:cNvPr id="15" name="Text 13"/>
          <p:cNvSpPr/>
          <p:nvPr/>
        </p:nvSpPr>
        <p:spPr>
          <a:xfrm>
            <a:off x="1428750" y="5565528"/>
            <a:ext cx="7534628" cy="1033557"/>
          </a:xfrm>
          <a:prstGeom prst="rect">
            <a:avLst/>
          </a:prstGeom>
          <a:noFill/>
          <a:ln/>
        </p:spPr>
        <p:txBody>
          <a:bodyPr wrap="square" lIns="25400" tIns="25400" rIns="25400" bIns="25400" rtlCol="0" anchor="t">
            <a:normAutofit/>
          </a:bodyPr>
          <a:lstStyle/>
          <a:p>
            <a:pPr marL="0" indent="0" algn="l">
              <a:lnSpc>
                <a:spcPct val="116133"/>
              </a:lnSpc>
              <a:buNone/>
            </a:pPr>
            <a:r>
              <a:rPr lang="en-US" sz="1950" dirty="0">
                <a:solidFill>
                  <a:srgbClr val="55676C"/>
                </a:solidFill>
                <a:latin typeface="Georgia" panose="02040502050405020303" pitchFamily="18" charset="0"/>
                <a:ea typeface="Arial" pitchFamily="34" charset="-122"/>
                <a:cs typeface="Arial" pitchFamily="34" charset="-120"/>
              </a:rPr>
              <a:t>Dysregulation may be amplified when ADHD overlaps with anxiety, OCD, eating-disorder symptoms, or other mental-health concerns</a:t>
            </a:r>
            <a:endParaRPr lang="en-US" sz="1950" dirty="0">
              <a:latin typeface="Georgia" panose="02040502050405020303" pitchFamily="18" charset="0"/>
            </a:endParaRPr>
          </a:p>
        </p:txBody>
      </p:sp>
      <p:sp>
        <p:nvSpPr>
          <p:cNvPr id="16" name="Shape 14"/>
          <p:cNvSpPr/>
          <p:nvPr/>
        </p:nvSpPr>
        <p:spPr>
          <a:xfrm>
            <a:off x="9258259" y="5204485"/>
            <a:ext cx="7886740" cy="1699347"/>
          </a:xfrm>
          <a:prstGeom prst="rect">
            <a:avLst/>
          </a:prstGeom>
          <a:solidFill>
            <a:srgbClr val="FFFFFF"/>
          </a:solidFill>
          <a:ln/>
        </p:spPr>
        <p:txBody>
          <a:bodyPr/>
          <a:lstStyle/>
          <a:p>
            <a:endParaRPr lang="en-US">
              <a:latin typeface="Georgia" panose="02040502050405020303" pitchFamily="18" charset="0"/>
            </a:endParaRPr>
          </a:p>
        </p:txBody>
      </p:sp>
      <p:sp>
        <p:nvSpPr>
          <p:cNvPr id="17" name="Shape 15"/>
          <p:cNvSpPr/>
          <p:nvPr/>
        </p:nvSpPr>
        <p:spPr>
          <a:xfrm>
            <a:off x="9258259" y="5204485"/>
            <a:ext cx="7886740" cy="56284"/>
          </a:xfrm>
          <a:prstGeom prst="rect">
            <a:avLst/>
          </a:prstGeom>
          <a:solidFill>
            <a:srgbClr val="1C565D"/>
          </a:solidFill>
          <a:ln/>
        </p:spPr>
        <p:txBody>
          <a:bodyPr/>
          <a:lstStyle/>
          <a:p>
            <a:endParaRPr lang="en-US">
              <a:latin typeface="Georgia" panose="02040502050405020303" pitchFamily="18" charset="0"/>
            </a:endParaRPr>
          </a:p>
        </p:txBody>
      </p:sp>
      <p:sp>
        <p:nvSpPr>
          <p:cNvPr id="18" name="Text 16"/>
          <p:cNvSpPr/>
          <p:nvPr/>
        </p:nvSpPr>
        <p:spPr>
          <a:xfrm>
            <a:off x="9544009" y="5565528"/>
            <a:ext cx="7534697" cy="1033557"/>
          </a:xfrm>
          <a:prstGeom prst="rect">
            <a:avLst/>
          </a:prstGeom>
          <a:noFill/>
          <a:ln/>
        </p:spPr>
        <p:txBody>
          <a:bodyPr wrap="square" lIns="25400" tIns="25400" rIns="25400" bIns="25400" rtlCol="0" anchor="t">
            <a:normAutofit/>
          </a:bodyPr>
          <a:lstStyle/>
          <a:p>
            <a:pPr marL="0" indent="0" algn="l">
              <a:lnSpc>
                <a:spcPct val="116133"/>
              </a:lnSpc>
              <a:buNone/>
            </a:pPr>
            <a:r>
              <a:rPr lang="en-US" sz="1950" dirty="0">
                <a:solidFill>
                  <a:srgbClr val="55676C"/>
                </a:solidFill>
                <a:latin typeface="Georgia" panose="02040502050405020303" pitchFamily="18" charset="0"/>
                <a:ea typeface="Arial" pitchFamily="34" charset="-122"/>
                <a:cs typeface="Arial" pitchFamily="34" charset="-120"/>
              </a:rPr>
              <a:t>Helpful routines can support regulation, but can also become increasingly rigid when anxiety or compulsive patterns are present</a:t>
            </a:r>
            <a:endParaRPr lang="en-US" sz="1950" dirty="0">
              <a:latin typeface="Georgia" panose="02040502050405020303" pitchFamily="18" charset="0"/>
            </a:endParaRPr>
          </a:p>
        </p:txBody>
      </p:sp>
      <p:sp>
        <p:nvSpPr>
          <p:cNvPr id="19" name="Text 17"/>
          <p:cNvSpPr/>
          <p:nvPr/>
        </p:nvSpPr>
        <p:spPr>
          <a:xfrm>
            <a:off x="1143000" y="9565724"/>
            <a:ext cx="8725123" cy="302202"/>
          </a:xfrm>
          <a:prstGeom prst="rect">
            <a:avLst/>
          </a:prstGeom>
          <a:noFill/>
          <a:ln/>
        </p:spPr>
        <p:txBody>
          <a:bodyPr wrap="none" lIns="25400" tIns="25400" rIns="25400" bIns="25400" rtlCol="0" anchor="t">
            <a:normAutofit lnSpcReduction="10000"/>
          </a:bodyPr>
          <a:lstStyle/>
          <a:p>
            <a:pPr marL="0" indent="0" algn="l">
              <a:buNone/>
            </a:pPr>
            <a:r>
              <a:rPr lang="en-US" sz="1800" b="1" kern="0" spc="72" dirty="0">
                <a:solidFill>
                  <a:srgbClr val="55676C"/>
                </a:solidFill>
                <a:latin typeface="Georgia" panose="02040502050405020303" pitchFamily="18" charset="0"/>
                <a:ea typeface="Arial" pitchFamily="34" charset="-122"/>
                <a:cs typeface="Arial" pitchFamily="34" charset="-120"/>
              </a:rPr>
              <a:t>Understanding Neurodivergence — In a Counselling and Family Context</a:t>
            </a:r>
            <a:endParaRPr lang="en-US" sz="1800" dirty="0">
              <a:latin typeface="Georgia" panose="02040502050405020303" pitchFamily="18" charset="0"/>
            </a:endParaRPr>
          </a:p>
        </p:txBody>
      </p:sp>
      <p:sp>
        <p:nvSpPr>
          <p:cNvPr id="20" name="Shape 18"/>
          <p:cNvSpPr/>
          <p:nvPr/>
        </p:nvSpPr>
        <p:spPr>
          <a:xfrm>
            <a:off x="16624777" y="9640612"/>
            <a:ext cx="114259" cy="114259"/>
          </a:xfrm>
          <a:prstGeom prst="rect">
            <a:avLst/>
          </a:prstGeom>
          <a:solidFill>
            <a:srgbClr val="1C565D"/>
          </a:solidFill>
          <a:ln/>
        </p:spPr>
        <p:txBody>
          <a:bodyPr/>
          <a:lstStyle/>
          <a:p>
            <a:endParaRPr lang="en-US">
              <a:latin typeface="Georgia" panose="02040502050405020303" pitchFamily="18" charset="0"/>
            </a:endParaRPr>
          </a:p>
        </p:txBody>
      </p:sp>
      <p:sp>
        <p:nvSpPr>
          <p:cNvPr id="21" name="Text 19"/>
          <p:cNvSpPr/>
          <p:nvPr/>
        </p:nvSpPr>
        <p:spPr>
          <a:xfrm>
            <a:off x="16872374" y="9570054"/>
            <a:ext cx="348825" cy="293543"/>
          </a:xfrm>
          <a:prstGeom prst="rect">
            <a:avLst/>
          </a:prstGeom>
          <a:noFill/>
          <a:ln/>
        </p:spPr>
        <p:txBody>
          <a:bodyPr wrap="none" lIns="0" tIns="0" rIns="0" bIns="0" rtlCol="0" anchor="t">
            <a:normAutofit/>
          </a:bodyPr>
          <a:lstStyle/>
          <a:p>
            <a:pPr marL="0" indent="0" algn="l">
              <a:buNone/>
            </a:pPr>
            <a:r>
              <a:rPr lang="en-US" sz="1800" b="1" kern="0" spc="72" dirty="0">
                <a:solidFill>
                  <a:srgbClr val="1C565D"/>
                </a:solidFill>
                <a:latin typeface="Georgia" panose="02040502050405020303" pitchFamily="18" charset="0"/>
                <a:ea typeface="Arial" pitchFamily="34" charset="-122"/>
                <a:cs typeface="Arial" pitchFamily="34" charset="-120"/>
              </a:rPr>
              <a:t>07</a:t>
            </a:r>
            <a:endParaRPr lang="en-US" sz="1800" dirty="0">
              <a:latin typeface="Georgia" panose="02040502050405020303"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66673" cy="10287000"/>
          </a:xfrm>
          <a:prstGeom prst="rect">
            <a:avLst/>
          </a:prstGeom>
          <a:solidFill>
            <a:srgbClr val="1C565D"/>
          </a:solidFill>
          <a:ln/>
        </p:spPr>
        <p:txBody>
          <a:bodyPr/>
          <a:lstStyle/>
          <a:p>
            <a:endParaRPr lang="en-US">
              <a:latin typeface="Georgia" panose="02040502050405020303" pitchFamily="18" charset="0"/>
            </a:endParaRPr>
          </a:p>
        </p:txBody>
      </p:sp>
      <p:sp>
        <p:nvSpPr>
          <p:cNvPr id="3" name="Shape 1"/>
          <p:cNvSpPr/>
          <p:nvPr/>
        </p:nvSpPr>
        <p:spPr>
          <a:xfrm>
            <a:off x="0" y="0"/>
            <a:ext cx="266673" cy="3394702"/>
          </a:xfrm>
          <a:prstGeom prst="rect">
            <a:avLst/>
          </a:prstGeom>
          <a:solidFill>
            <a:srgbClr val="528B8E"/>
          </a:solidFill>
          <a:ln/>
        </p:spPr>
        <p:txBody>
          <a:bodyPr/>
          <a:lstStyle/>
          <a:p>
            <a:endParaRPr lang="en-US">
              <a:latin typeface="Georgia" panose="02040502050405020303" pitchFamily="18" charset="0"/>
            </a:endParaRPr>
          </a:p>
        </p:txBody>
      </p:sp>
      <p:sp>
        <p:nvSpPr>
          <p:cNvPr id="4" name="Shape 2"/>
          <p:cNvSpPr/>
          <p:nvPr/>
        </p:nvSpPr>
        <p:spPr>
          <a:xfrm>
            <a:off x="1143000" y="994037"/>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5" name="Text 3"/>
          <p:cNvSpPr/>
          <p:nvPr/>
        </p:nvSpPr>
        <p:spPr>
          <a:xfrm>
            <a:off x="1847769" y="880589"/>
            <a:ext cx="2507916" cy="293543"/>
          </a:xfrm>
          <a:prstGeom prst="rect">
            <a:avLst/>
          </a:prstGeom>
          <a:noFill/>
          <a:ln/>
        </p:spPr>
        <p:txBody>
          <a:bodyPr wrap="square" lIns="0" tIns="0" rIns="0" bIns="0" rtlCol="0" anchor="t">
            <a:normAutofit fontScale="85000" lnSpcReduction="100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PRESENTATIONS</a:t>
            </a:r>
            <a:endParaRPr lang="en-US" sz="1800" dirty="0">
              <a:latin typeface="Georgia" panose="02040502050405020303" pitchFamily="18" charset="0"/>
            </a:endParaRPr>
          </a:p>
        </p:txBody>
      </p:sp>
      <p:sp>
        <p:nvSpPr>
          <p:cNvPr id="6" name="Text 4"/>
          <p:cNvSpPr/>
          <p:nvPr/>
        </p:nvSpPr>
        <p:spPr>
          <a:xfrm>
            <a:off x="1143000" y="1387958"/>
            <a:ext cx="16554450" cy="646131"/>
          </a:xfrm>
          <a:prstGeom prst="rect">
            <a:avLst/>
          </a:prstGeom>
          <a:noFill/>
          <a:ln/>
        </p:spPr>
        <p:txBody>
          <a:bodyPr wrap="square" lIns="25400" tIns="25400" rIns="25400" bIns="25400" rtlCol="0" anchor="t">
            <a:normAutofit lnSpcReduction="10000"/>
          </a:bodyPr>
          <a:lstStyle/>
          <a:p>
            <a:pPr marL="0" indent="0" algn="l">
              <a:lnSpc>
                <a:spcPct val="100320"/>
              </a:lnSpc>
              <a:buNone/>
            </a:pPr>
            <a:r>
              <a:rPr lang="en-US" sz="4200" kern="0" spc="-34" dirty="0">
                <a:solidFill>
                  <a:srgbClr val="1C2A2E"/>
                </a:solidFill>
                <a:latin typeface="Georgia" panose="02040502050405020303" pitchFamily="18" charset="0"/>
                <a:ea typeface="Georgia" pitchFamily="34" charset="-122"/>
                <a:cs typeface="Georgia" pitchFamily="34" charset="-120"/>
              </a:rPr>
              <a:t>ASD and Autistic Traits</a:t>
            </a:r>
            <a:endParaRPr lang="en-US" sz="4200" dirty="0">
              <a:latin typeface="Georgia" panose="02040502050405020303" pitchFamily="18" charset="0"/>
            </a:endParaRPr>
          </a:p>
        </p:txBody>
      </p:sp>
      <p:sp>
        <p:nvSpPr>
          <p:cNvPr id="7" name="Shape 5"/>
          <p:cNvSpPr/>
          <p:nvPr/>
        </p:nvSpPr>
        <p:spPr>
          <a:xfrm>
            <a:off x="1143000" y="2937489"/>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8" name="Text 6"/>
          <p:cNvSpPr/>
          <p:nvPr/>
        </p:nvSpPr>
        <p:spPr>
          <a:xfrm>
            <a:off x="1416573" y="2937489"/>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Sensory differences</a:t>
            </a:r>
            <a:endParaRPr lang="en-US" sz="2250" dirty="0">
              <a:latin typeface="Georgia" panose="02040502050405020303" pitchFamily="18" charset="0"/>
            </a:endParaRPr>
          </a:p>
        </p:txBody>
      </p:sp>
      <p:sp>
        <p:nvSpPr>
          <p:cNvPr id="9" name="Text 7"/>
          <p:cNvSpPr/>
          <p:nvPr/>
        </p:nvSpPr>
        <p:spPr>
          <a:xfrm>
            <a:off x="1416573" y="3337431"/>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sound, touch, light, food textures, movement, or internal sensations may be experienced differently</a:t>
            </a:r>
            <a:endParaRPr lang="en-US" sz="1875" dirty="0">
              <a:latin typeface="Georgia" panose="02040502050405020303" pitchFamily="18" charset="0"/>
            </a:endParaRPr>
          </a:p>
        </p:txBody>
      </p:sp>
      <p:sp>
        <p:nvSpPr>
          <p:cNvPr id="10" name="Shape 8"/>
          <p:cNvSpPr/>
          <p:nvPr/>
        </p:nvSpPr>
        <p:spPr>
          <a:xfrm>
            <a:off x="9524999" y="2937489"/>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11" name="Text 9"/>
          <p:cNvSpPr/>
          <p:nvPr/>
        </p:nvSpPr>
        <p:spPr>
          <a:xfrm>
            <a:off x="9798573" y="2937489"/>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Need for predictability</a:t>
            </a:r>
            <a:endParaRPr lang="en-US" sz="2250" dirty="0">
              <a:latin typeface="Georgia" panose="02040502050405020303" pitchFamily="18" charset="0"/>
            </a:endParaRPr>
          </a:p>
        </p:txBody>
      </p:sp>
      <p:sp>
        <p:nvSpPr>
          <p:cNvPr id="12" name="Text 10"/>
          <p:cNvSpPr/>
          <p:nvPr/>
        </p:nvSpPr>
        <p:spPr>
          <a:xfrm>
            <a:off x="9798573" y="3337431"/>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change, uncertainty, or unexpected demands may create more stress than we expect</a:t>
            </a:r>
            <a:endParaRPr lang="en-US" sz="1875" dirty="0">
              <a:latin typeface="Georgia" panose="02040502050405020303" pitchFamily="18" charset="0"/>
            </a:endParaRPr>
          </a:p>
        </p:txBody>
      </p:sp>
      <p:sp>
        <p:nvSpPr>
          <p:cNvPr id="13" name="Shape 11"/>
          <p:cNvSpPr/>
          <p:nvPr/>
        </p:nvSpPr>
        <p:spPr>
          <a:xfrm>
            <a:off x="1143000" y="4213623"/>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14" name="Text 12"/>
          <p:cNvSpPr/>
          <p:nvPr/>
        </p:nvSpPr>
        <p:spPr>
          <a:xfrm>
            <a:off x="1416573" y="4213623"/>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Rigidity as regulation</a:t>
            </a:r>
            <a:endParaRPr lang="en-US" sz="2250" dirty="0">
              <a:latin typeface="Georgia" panose="02040502050405020303" pitchFamily="18" charset="0"/>
            </a:endParaRPr>
          </a:p>
        </p:txBody>
      </p:sp>
      <p:sp>
        <p:nvSpPr>
          <p:cNvPr id="15" name="Text 13"/>
          <p:cNvSpPr/>
          <p:nvPr/>
        </p:nvSpPr>
        <p:spPr>
          <a:xfrm>
            <a:off x="1416573" y="4613565"/>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what looks controlling may sometimes be an attempt to create predictability or reduce overwhelm</a:t>
            </a:r>
            <a:endParaRPr lang="en-US" sz="1875" dirty="0">
              <a:latin typeface="Georgia" panose="02040502050405020303" pitchFamily="18" charset="0"/>
            </a:endParaRPr>
          </a:p>
        </p:txBody>
      </p:sp>
      <p:sp>
        <p:nvSpPr>
          <p:cNvPr id="16" name="Shape 14"/>
          <p:cNvSpPr/>
          <p:nvPr/>
        </p:nvSpPr>
        <p:spPr>
          <a:xfrm>
            <a:off x="9524999" y="4213623"/>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17" name="Text 15"/>
          <p:cNvSpPr/>
          <p:nvPr/>
        </p:nvSpPr>
        <p:spPr>
          <a:xfrm>
            <a:off x="9798573" y="4213623"/>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Masking</a:t>
            </a:r>
            <a:endParaRPr lang="en-US" sz="2250" dirty="0">
              <a:latin typeface="Georgia" panose="02040502050405020303" pitchFamily="18" charset="0"/>
            </a:endParaRPr>
          </a:p>
        </p:txBody>
      </p:sp>
      <p:sp>
        <p:nvSpPr>
          <p:cNvPr id="18" name="Text 16"/>
          <p:cNvSpPr/>
          <p:nvPr/>
        </p:nvSpPr>
        <p:spPr>
          <a:xfrm>
            <a:off x="9798573" y="4613565"/>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differences may be less visible in some settings and can carry significant effort</a:t>
            </a:r>
            <a:endParaRPr lang="en-US" sz="1875" dirty="0">
              <a:latin typeface="Georgia" panose="02040502050405020303" pitchFamily="18" charset="0"/>
            </a:endParaRPr>
          </a:p>
        </p:txBody>
      </p:sp>
      <p:sp>
        <p:nvSpPr>
          <p:cNvPr id="19" name="Shape 17"/>
          <p:cNvSpPr/>
          <p:nvPr/>
        </p:nvSpPr>
        <p:spPr>
          <a:xfrm>
            <a:off x="1143000" y="5489757"/>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20" name="Text 18"/>
          <p:cNvSpPr/>
          <p:nvPr/>
        </p:nvSpPr>
        <p:spPr>
          <a:xfrm>
            <a:off x="1416573" y="5489757"/>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Difficulty identifying internal states</a:t>
            </a:r>
            <a:endParaRPr lang="en-US" sz="2250" dirty="0">
              <a:latin typeface="Georgia" panose="02040502050405020303" pitchFamily="18" charset="0"/>
            </a:endParaRPr>
          </a:p>
        </p:txBody>
      </p:sp>
      <p:sp>
        <p:nvSpPr>
          <p:cNvPr id="21" name="Text 19"/>
          <p:cNvSpPr/>
          <p:nvPr/>
        </p:nvSpPr>
        <p:spPr>
          <a:xfrm>
            <a:off x="1416573" y="5889699"/>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the person may know something feels off without being able to explain what</a:t>
            </a:r>
            <a:endParaRPr lang="en-US" sz="1875" dirty="0">
              <a:latin typeface="Georgia" panose="02040502050405020303" pitchFamily="18" charset="0"/>
            </a:endParaRPr>
          </a:p>
        </p:txBody>
      </p:sp>
      <p:sp>
        <p:nvSpPr>
          <p:cNvPr id="22" name="Shape 20"/>
          <p:cNvSpPr/>
          <p:nvPr/>
        </p:nvSpPr>
        <p:spPr>
          <a:xfrm>
            <a:off x="9524999" y="5489757"/>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23" name="Text 21"/>
          <p:cNvSpPr/>
          <p:nvPr/>
        </p:nvSpPr>
        <p:spPr>
          <a:xfrm>
            <a:off x="9798573" y="5489757"/>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Social fatigue</a:t>
            </a:r>
            <a:endParaRPr lang="en-US" sz="2250" dirty="0">
              <a:latin typeface="Georgia" panose="02040502050405020303" pitchFamily="18" charset="0"/>
            </a:endParaRPr>
          </a:p>
        </p:txBody>
      </p:sp>
      <p:sp>
        <p:nvSpPr>
          <p:cNvPr id="24" name="Text 22"/>
          <p:cNvSpPr/>
          <p:nvPr/>
        </p:nvSpPr>
        <p:spPr>
          <a:xfrm>
            <a:off x="9798573" y="5889699"/>
            <a:ext cx="7566819" cy="666696"/>
          </a:xfrm>
          <a:prstGeom prst="rect">
            <a:avLst/>
          </a:prstGeom>
          <a:noFill/>
          <a:ln/>
        </p:spPr>
        <p:txBody>
          <a:bodyPr wrap="square" lIns="25400" tIns="25400" rIns="25400" bIns="25400" rtlCol="0" anchor="t">
            <a:normAutofit/>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interaction can be effortful even when the person wants connection</a:t>
            </a:r>
            <a:endParaRPr lang="en-US" sz="1875" dirty="0">
              <a:latin typeface="Georgia" panose="02040502050405020303" pitchFamily="18" charset="0"/>
            </a:endParaRPr>
          </a:p>
        </p:txBody>
      </p:sp>
      <p:sp>
        <p:nvSpPr>
          <p:cNvPr id="25" name="Shape 23"/>
          <p:cNvSpPr/>
          <p:nvPr/>
        </p:nvSpPr>
        <p:spPr>
          <a:xfrm>
            <a:off x="1143000" y="6765890"/>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26" name="Text 24"/>
          <p:cNvSpPr/>
          <p:nvPr/>
        </p:nvSpPr>
        <p:spPr>
          <a:xfrm>
            <a:off x="1416573" y="6765890"/>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Direct or literal communication</a:t>
            </a:r>
            <a:endParaRPr lang="en-US" sz="2250" dirty="0">
              <a:latin typeface="Georgia" panose="02040502050405020303" pitchFamily="18" charset="0"/>
            </a:endParaRPr>
          </a:p>
        </p:txBody>
      </p:sp>
      <p:sp>
        <p:nvSpPr>
          <p:cNvPr id="27" name="Text 25"/>
          <p:cNvSpPr/>
          <p:nvPr/>
        </p:nvSpPr>
        <p:spPr>
          <a:xfrm>
            <a:off x="1416573" y="7165832"/>
            <a:ext cx="8081069" cy="352398"/>
          </a:xfrm>
          <a:prstGeom prst="rect">
            <a:avLst/>
          </a:prstGeom>
          <a:noFill/>
          <a:ln/>
        </p:spPr>
        <p:txBody>
          <a:bodyPr wrap="square" lIns="25400" tIns="25400" rIns="25400" bIns="25400" rtlCol="0" anchor="t">
            <a:normAutofit/>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meaning may be expressed or interpreted differently</a:t>
            </a:r>
            <a:endParaRPr lang="en-US" sz="1875" dirty="0">
              <a:latin typeface="Georgia" panose="02040502050405020303" pitchFamily="18" charset="0"/>
            </a:endParaRPr>
          </a:p>
        </p:txBody>
      </p:sp>
      <p:sp>
        <p:nvSpPr>
          <p:cNvPr id="28" name="Shape 26"/>
          <p:cNvSpPr/>
          <p:nvPr/>
        </p:nvSpPr>
        <p:spPr>
          <a:xfrm>
            <a:off x="9524999" y="6765890"/>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29" name="Text 27"/>
          <p:cNvSpPr/>
          <p:nvPr/>
        </p:nvSpPr>
        <p:spPr>
          <a:xfrm>
            <a:off x="9798573" y="6765890"/>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Intense interests</a:t>
            </a:r>
            <a:endParaRPr lang="en-US" sz="2250" dirty="0">
              <a:latin typeface="Georgia" panose="02040502050405020303" pitchFamily="18" charset="0"/>
            </a:endParaRPr>
          </a:p>
        </p:txBody>
      </p:sp>
      <p:sp>
        <p:nvSpPr>
          <p:cNvPr id="30" name="Text 28"/>
          <p:cNvSpPr/>
          <p:nvPr/>
        </p:nvSpPr>
        <p:spPr>
          <a:xfrm>
            <a:off x="9798573" y="7165832"/>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deep interests can be a source of regulation, identity, strength, and connection</a:t>
            </a:r>
            <a:endParaRPr lang="en-US" sz="1875" dirty="0">
              <a:latin typeface="Georgia" panose="02040502050405020303" pitchFamily="18" charset="0"/>
            </a:endParaRPr>
          </a:p>
        </p:txBody>
      </p:sp>
      <p:sp>
        <p:nvSpPr>
          <p:cNvPr id="31" name="Text 29"/>
          <p:cNvSpPr/>
          <p:nvPr/>
        </p:nvSpPr>
        <p:spPr>
          <a:xfrm>
            <a:off x="1143000" y="9565724"/>
            <a:ext cx="8725123" cy="302202"/>
          </a:xfrm>
          <a:prstGeom prst="rect">
            <a:avLst/>
          </a:prstGeom>
          <a:noFill/>
          <a:ln/>
        </p:spPr>
        <p:txBody>
          <a:bodyPr wrap="none" lIns="25400" tIns="25400" rIns="25400" bIns="25400" rtlCol="0" anchor="t">
            <a:normAutofit lnSpcReduction="10000"/>
          </a:bodyPr>
          <a:lstStyle/>
          <a:p>
            <a:pPr marL="0" indent="0" algn="l">
              <a:buNone/>
            </a:pPr>
            <a:r>
              <a:rPr lang="en-US" sz="1800" b="1" kern="0" spc="72" dirty="0">
                <a:solidFill>
                  <a:srgbClr val="55676C"/>
                </a:solidFill>
                <a:latin typeface="Georgia" panose="02040502050405020303" pitchFamily="18" charset="0"/>
                <a:ea typeface="Arial" pitchFamily="34" charset="-122"/>
                <a:cs typeface="Arial" pitchFamily="34" charset="-120"/>
              </a:rPr>
              <a:t>Understanding Neurodivergence — In a Counselling and Family Context</a:t>
            </a:r>
            <a:endParaRPr lang="en-US" sz="1800" dirty="0">
              <a:latin typeface="Georgia" panose="02040502050405020303" pitchFamily="18" charset="0"/>
            </a:endParaRPr>
          </a:p>
        </p:txBody>
      </p:sp>
      <p:sp>
        <p:nvSpPr>
          <p:cNvPr id="32" name="Shape 30"/>
          <p:cNvSpPr/>
          <p:nvPr/>
        </p:nvSpPr>
        <p:spPr>
          <a:xfrm>
            <a:off x="16624777" y="9640612"/>
            <a:ext cx="114259" cy="114259"/>
          </a:xfrm>
          <a:prstGeom prst="rect">
            <a:avLst/>
          </a:prstGeom>
          <a:solidFill>
            <a:srgbClr val="1C565D"/>
          </a:solidFill>
          <a:ln/>
        </p:spPr>
        <p:txBody>
          <a:bodyPr/>
          <a:lstStyle/>
          <a:p>
            <a:endParaRPr lang="en-US">
              <a:latin typeface="Georgia" panose="02040502050405020303" pitchFamily="18" charset="0"/>
            </a:endParaRPr>
          </a:p>
        </p:txBody>
      </p:sp>
      <p:sp>
        <p:nvSpPr>
          <p:cNvPr id="33" name="Text 31"/>
          <p:cNvSpPr/>
          <p:nvPr/>
        </p:nvSpPr>
        <p:spPr>
          <a:xfrm>
            <a:off x="16872374" y="9570054"/>
            <a:ext cx="348825" cy="293543"/>
          </a:xfrm>
          <a:prstGeom prst="rect">
            <a:avLst/>
          </a:prstGeom>
          <a:noFill/>
          <a:ln/>
        </p:spPr>
        <p:txBody>
          <a:bodyPr wrap="none" lIns="0" tIns="0" rIns="0" bIns="0" rtlCol="0" anchor="t">
            <a:normAutofit/>
          </a:bodyPr>
          <a:lstStyle/>
          <a:p>
            <a:pPr marL="0" indent="0" algn="l">
              <a:buNone/>
            </a:pPr>
            <a:r>
              <a:rPr lang="en-US" sz="1800" b="1" kern="0" spc="72" dirty="0">
                <a:solidFill>
                  <a:srgbClr val="1C565D"/>
                </a:solidFill>
                <a:latin typeface="Georgia" panose="02040502050405020303" pitchFamily="18" charset="0"/>
                <a:ea typeface="Arial" pitchFamily="34" charset="-122"/>
                <a:cs typeface="Arial" pitchFamily="34" charset="-120"/>
              </a:rPr>
              <a:t>08</a:t>
            </a:r>
            <a:endParaRPr lang="en-US" sz="1800" dirty="0">
              <a:latin typeface="Georgia" panose="02040502050405020303"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66673" cy="10287000"/>
          </a:xfrm>
          <a:prstGeom prst="rect">
            <a:avLst/>
          </a:prstGeom>
          <a:solidFill>
            <a:srgbClr val="1C565D"/>
          </a:solidFill>
          <a:ln/>
        </p:spPr>
        <p:txBody>
          <a:bodyPr/>
          <a:lstStyle/>
          <a:p>
            <a:endParaRPr lang="en-US">
              <a:latin typeface="Georgia" panose="02040502050405020303" pitchFamily="18" charset="0"/>
            </a:endParaRPr>
          </a:p>
        </p:txBody>
      </p:sp>
      <p:sp>
        <p:nvSpPr>
          <p:cNvPr id="3" name="Shape 1"/>
          <p:cNvSpPr/>
          <p:nvPr/>
        </p:nvSpPr>
        <p:spPr>
          <a:xfrm>
            <a:off x="0" y="0"/>
            <a:ext cx="266673" cy="3394702"/>
          </a:xfrm>
          <a:prstGeom prst="rect">
            <a:avLst/>
          </a:prstGeom>
          <a:solidFill>
            <a:srgbClr val="528B8E"/>
          </a:solidFill>
          <a:ln/>
        </p:spPr>
        <p:txBody>
          <a:bodyPr/>
          <a:lstStyle/>
          <a:p>
            <a:endParaRPr lang="en-US">
              <a:latin typeface="Georgia" panose="02040502050405020303" pitchFamily="18" charset="0"/>
            </a:endParaRPr>
          </a:p>
        </p:txBody>
      </p:sp>
      <p:sp>
        <p:nvSpPr>
          <p:cNvPr id="4" name="Shape 2"/>
          <p:cNvSpPr/>
          <p:nvPr/>
        </p:nvSpPr>
        <p:spPr>
          <a:xfrm>
            <a:off x="1143000" y="994037"/>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5" name="Text 3"/>
          <p:cNvSpPr/>
          <p:nvPr/>
        </p:nvSpPr>
        <p:spPr>
          <a:xfrm>
            <a:off x="1847769" y="880589"/>
            <a:ext cx="2608781" cy="293543"/>
          </a:xfrm>
          <a:prstGeom prst="rect">
            <a:avLst/>
          </a:prstGeom>
          <a:noFill/>
          <a:ln/>
        </p:spPr>
        <p:txBody>
          <a:bodyPr wrap="square" lIns="0" tIns="0" rIns="0" bIns="0" rtlCol="0" anchor="t">
            <a:normAutofit fontScale="925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A SYSTEMS LENS</a:t>
            </a:r>
            <a:endParaRPr lang="en-US" sz="1800" dirty="0">
              <a:latin typeface="Georgia" panose="02040502050405020303" pitchFamily="18" charset="0"/>
            </a:endParaRPr>
          </a:p>
        </p:txBody>
      </p:sp>
      <p:sp>
        <p:nvSpPr>
          <p:cNvPr id="6" name="Text 4"/>
          <p:cNvSpPr/>
          <p:nvPr/>
        </p:nvSpPr>
        <p:spPr>
          <a:xfrm>
            <a:off x="1143000" y="1387958"/>
            <a:ext cx="16554450" cy="646131"/>
          </a:xfrm>
          <a:prstGeom prst="rect">
            <a:avLst/>
          </a:prstGeom>
          <a:noFill/>
          <a:ln/>
        </p:spPr>
        <p:txBody>
          <a:bodyPr wrap="square" lIns="25400" tIns="25400" rIns="25400" bIns="25400" rtlCol="0" anchor="t">
            <a:normAutofit lnSpcReduction="10000"/>
          </a:bodyPr>
          <a:lstStyle/>
          <a:p>
            <a:pPr marL="0" indent="0" algn="l">
              <a:lnSpc>
                <a:spcPct val="100320"/>
              </a:lnSpc>
              <a:buNone/>
            </a:pPr>
            <a:r>
              <a:rPr lang="en-US" sz="4200" kern="0" spc="-34" dirty="0">
                <a:solidFill>
                  <a:srgbClr val="1C2A2E"/>
                </a:solidFill>
                <a:latin typeface="Georgia" panose="02040502050405020303" pitchFamily="18" charset="0"/>
                <a:ea typeface="Georgia" pitchFamily="34" charset="-122"/>
                <a:cs typeface="Georgia" pitchFamily="34" charset="-120"/>
              </a:rPr>
              <a:t>A Systems Lens on Neurodivergence</a:t>
            </a:r>
            <a:endParaRPr lang="en-US" sz="4200" dirty="0">
              <a:latin typeface="Georgia" panose="02040502050405020303" pitchFamily="18" charset="0"/>
            </a:endParaRPr>
          </a:p>
        </p:txBody>
      </p:sp>
      <p:sp>
        <p:nvSpPr>
          <p:cNvPr id="8" name="Text 6"/>
          <p:cNvSpPr/>
          <p:nvPr/>
        </p:nvSpPr>
        <p:spPr>
          <a:xfrm>
            <a:off x="1247721" y="2848715"/>
            <a:ext cx="7896279" cy="4897723"/>
          </a:xfrm>
          <a:prstGeom prst="rect">
            <a:avLst/>
          </a:prstGeom>
          <a:noFill/>
          <a:ln/>
        </p:spPr>
        <p:txBody>
          <a:bodyPr wrap="square" lIns="0" tIns="0" rIns="0" bIns="0" rtlCol="0" anchor="t">
            <a:normAutofit/>
          </a:bodyPr>
          <a:lstStyle/>
          <a:p>
            <a:pPr marL="342900" indent="-342900" algn="l">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Neurodivergence is experienced within relationships and systems, not in isolation</a:t>
            </a:r>
          </a:p>
          <a:p>
            <a:pPr marL="342900" indent="-342900">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Providing context and understanding for others can change how behavior is interpreted and responded to</a:t>
            </a:r>
          </a:p>
          <a:p>
            <a:pPr marL="342900" indent="-342900">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Supportive others can contribute to co-regulation, advocacy, practical support, reduced shame, and stronger connection</a:t>
            </a:r>
            <a:endParaRPr lang="en-US" sz="2400" dirty="0">
              <a:latin typeface="Georgia" panose="02040502050405020303" pitchFamily="18" charset="0"/>
            </a:endParaRPr>
          </a:p>
          <a:p>
            <a:pPr marL="342900" indent="-342900">
              <a:lnSpc>
                <a:spcPct val="160000"/>
              </a:lnSpc>
              <a:spcAft>
                <a:spcPts val="600"/>
              </a:spcAft>
              <a:buSzPct val="115000"/>
              <a:buFont typeface="Wingdings" pitchFamily="2" charset="2"/>
              <a:buChar char="§"/>
            </a:pPr>
            <a:endParaRPr lang="en-US" sz="2400" dirty="0">
              <a:latin typeface="Georgia" panose="02040502050405020303" pitchFamily="18" charset="0"/>
            </a:endParaRPr>
          </a:p>
          <a:p>
            <a:pPr marL="342900" indent="-342900" algn="l">
              <a:lnSpc>
                <a:spcPct val="160000"/>
              </a:lnSpc>
              <a:spcAft>
                <a:spcPts val="600"/>
              </a:spcAft>
              <a:buSzPct val="115000"/>
              <a:buFont typeface="Wingdings" pitchFamily="2" charset="2"/>
              <a:buChar char="§"/>
            </a:pPr>
            <a:endParaRPr lang="en-US" sz="2400" dirty="0">
              <a:latin typeface="Georgia" panose="02040502050405020303" pitchFamily="18" charset="0"/>
            </a:endParaRPr>
          </a:p>
        </p:txBody>
      </p:sp>
      <p:sp>
        <p:nvSpPr>
          <p:cNvPr id="19" name="Shape 17"/>
          <p:cNvSpPr/>
          <p:nvPr/>
        </p:nvSpPr>
        <p:spPr>
          <a:xfrm>
            <a:off x="1143000" y="8275317"/>
            <a:ext cx="16002000" cy="1021096"/>
          </a:xfrm>
          <a:prstGeom prst="rect">
            <a:avLst/>
          </a:prstGeom>
          <a:solidFill>
            <a:srgbClr val="1C565D"/>
          </a:solidFill>
          <a:ln/>
        </p:spPr>
        <p:txBody>
          <a:bodyPr/>
          <a:lstStyle/>
          <a:p>
            <a:endParaRPr lang="en-US">
              <a:latin typeface="Georgia" panose="02040502050405020303" pitchFamily="18" charset="0"/>
            </a:endParaRPr>
          </a:p>
        </p:txBody>
      </p:sp>
      <p:sp>
        <p:nvSpPr>
          <p:cNvPr id="20" name="Text 18"/>
          <p:cNvSpPr/>
          <p:nvPr/>
        </p:nvSpPr>
        <p:spPr>
          <a:xfrm>
            <a:off x="1524000" y="8561067"/>
            <a:ext cx="15720060" cy="449596"/>
          </a:xfrm>
          <a:prstGeom prst="rect">
            <a:avLst/>
          </a:prstGeom>
          <a:noFill/>
          <a:ln/>
        </p:spPr>
        <p:txBody>
          <a:bodyPr wrap="square" lIns="25400" tIns="25400" rIns="25400" bIns="25400" rtlCol="0" anchor="t">
            <a:normAutofit/>
          </a:bodyPr>
          <a:lstStyle/>
          <a:p>
            <a:pPr marL="0" indent="0" algn="l">
              <a:lnSpc>
                <a:spcPct val="118800"/>
              </a:lnSpc>
              <a:buNone/>
            </a:pPr>
            <a:r>
              <a:rPr lang="en-US" sz="2400" dirty="0">
                <a:solidFill>
                  <a:srgbClr val="FFFFFF"/>
                </a:solidFill>
                <a:latin typeface="Georgia" panose="02040502050405020303" pitchFamily="18" charset="0"/>
                <a:ea typeface="Georgia" pitchFamily="34" charset="-122"/>
                <a:cs typeface="Georgia" pitchFamily="34" charset="-120"/>
              </a:rPr>
              <a:t>Understanding changes both how the person sees themselves and how others respond to them.</a:t>
            </a:r>
            <a:endParaRPr lang="en-US" sz="2400" dirty="0">
              <a:latin typeface="Georgia" panose="02040502050405020303" pitchFamily="18" charset="0"/>
            </a:endParaRPr>
          </a:p>
        </p:txBody>
      </p:sp>
      <p:sp>
        <p:nvSpPr>
          <p:cNvPr id="21" name="Text 19"/>
          <p:cNvSpPr/>
          <p:nvPr/>
        </p:nvSpPr>
        <p:spPr>
          <a:xfrm>
            <a:off x="1143000" y="9565724"/>
            <a:ext cx="8725123" cy="302202"/>
          </a:xfrm>
          <a:prstGeom prst="rect">
            <a:avLst/>
          </a:prstGeom>
          <a:noFill/>
          <a:ln/>
        </p:spPr>
        <p:txBody>
          <a:bodyPr wrap="none" lIns="25400" tIns="25400" rIns="25400" bIns="25400" rtlCol="0" anchor="t">
            <a:normAutofit lnSpcReduction="10000"/>
          </a:bodyPr>
          <a:lstStyle/>
          <a:p>
            <a:pPr marL="0" indent="0" algn="l">
              <a:buNone/>
            </a:pPr>
            <a:r>
              <a:rPr lang="en-US" sz="1800" b="1" kern="0" spc="72" dirty="0">
                <a:solidFill>
                  <a:srgbClr val="55676C"/>
                </a:solidFill>
                <a:latin typeface="Georgia" panose="02040502050405020303" pitchFamily="18" charset="0"/>
                <a:ea typeface="Arial" pitchFamily="34" charset="-122"/>
                <a:cs typeface="Arial" pitchFamily="34" charset="-120"/>
              </a:rPr>
              <a:t>Understanding Neurodivergence — In a Counselling and Family Context</a:t>
            </a:r>
            <a:endParaRPr lang="en-US" sz="1800" dirty="0">
              <a:latin typeface="Georgia" panose="02040502050405020303" pitchFamily="18" charset="0"/>
            </a:endParaRPr>
          </a:p>
        </p:txBody>
      </p:sp>
      <p:sp>
        <p:nvSpPr>
          <p:cNvPr id="22" name="Shape 20"/>
          <p:cNvSpPr/>
          <p:nvPr/>
        </p:nvSpPr>
        <p:spPr>
          <a:xfrm>
            <a:off x="16624777" y="9640612"/>
            <a:ext cx="114259" cy="114259"/>
          </a:xfrm>
          <a:prstGeom prst="rect">
            <a:avLst/>
          </a:prstGeom>
          <a:solidFill>
            <a:srgbClr val="1C565D"/>
          </a:solidFill>
          <a:ln/>
        </p:spPr>
        <p:txBody>
          <a:bodyPr/>
          <a:lstStyle/>
          <a:p>
            <a:endParaRPr lang="en-US">
              <a:latin typeface="Georgia" panose="02040502050405020303" pitchFamily="18" charset="0"/>
            </a:endParaRPr>
          </a:p>
        </p:txBody>
      </p:sp>
      <p:sp>
        <p:nvSpPr>
          <p:cNvPr id="23" name="Text 21"/>
          <p:cNvSpPr/>
          <p:nvPr/>
        </p:nvSpPr>
        <p:spPr>
          <a:xfrm>
            <a:off x="16872374" y="9570054"/>
            <a:ext cx="348825" cy="293543"/>
          </a:xfrm>
          <a:prstGeom prst="rect">
            <a:avLst/>
          </a:prstGeom>
          <a:noFill/>
          <a:ln/>
        </p:spPr>
        <p:txBody>
          <a:bodyPr wrap="none" lIns="0" tIns="0" rIns="0" bIns="0" rtlCol="0" anchor="t">
            <a:normAutofit/>
          </a:bodyPr>
          <a:lstStyle/>
          <a:p>
            <a:pPr marL="0" indent="0" algn="l">
              <a:buNone/>
            </a:pPr>
            <a:r>
              <a:rPr lang="en-US" sz="1800" b="1" kern="0" spc="72" dirty="0">
                <a:solidFill>
                  <a:srgbClr val="1C565D"/>
                </a:solidFill>
                <a:latin typeface="Georgia" panose="02040502050405020303" pitchFamily="18" charset="0"/>
                <a:ea typeface="Arial" pitchFamily="34" charset="-122"/>
                <a:cs typeface="Arial" pitchFamily="34" charset="-120"/>
              </a:rPr>
              <a:t>09</a:t>
            </a:r>
            <a:endParaRPr lang="en-US" sz="1800" dirty="0">
              <a:latin typeface="Georgia" panose="02040502050405020303" pitchFamily="18" charset="0"/>
            </a:endParaRPr>
          </a:p>
        </p:txBody>
      </p:sp>
      <p:sp>
        <p:nvSpPr>
          <p:cNvPr id="24" name="Text 6">
            <a:extLst>
              <a:ext uri="{FF2B5EF4-FFF2-40B4-BE49-F238E27FC236}">
                <a16:creationId xmlns:a16="http://schemas.microsoft.com/office/drawing/2014/main" id="{92DD54A6-B0C5-6288-4FD5-795D21E9D31D}"/>
              </a:ext>
            </a:extLst>
          </p:cNvPr>
          <p:cNvSpPr/>
          <p:nvPr/>
        </p:nvSpPr>
        <p:spPr>
          <a:xfrm>
            <a:off x="9420225" y="2848716"/>
            <a:ext cx="7896279" cy="4897723"/>
          </a:xfrm>
          <a:prstGeom prst="rect">
            <a:avLst/>
          </a:prstGeom>
          <a:noFill/>
          <a:ln/>
        </p:spPr>
        <p:txBody>
          <a:bodyPr wrap="square" lIns="0" tIns="0" rIns="0" bIns="0" rtlCol="0" anchor="t">
            <a:normAutofit/>
          </a:bodyPr>
          <a:lstStyle/>
          <a:p>
            <a:pPr marL="342900" indent="-342900">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Increasing self-understanding can reduce confusion, shame, and self-blame</a:t>
            </a:r>
          </a:p>
          <a:p>
            <a:pPr marL="342900" indent="-342900">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Expectations can better match actual capacity and needs</a:t>
            </a:r>
          </a:p>
          <a:p>
            <a:pPr marL="342900" indent="-342900">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The form of support changes across development, but understanding and alignment continue to matter</a:t>
            </a:r>
            <a:endParaRPr lang="en-US" sz="2400" dirty="0">
              <a:latin typeface="Georgia" panose="02040502050405020303" pitchFamily="18" charset="0"/>
            </a:endParaRPr>
          </a:p>
          <a:p>
            <a:pPr marL="342900" indent="-342900">
              <a:lnSpc>
                <a:spcPct val="160000"/>
              </a:lnSpc>
              <a:spcAft>
                <a:spcPts val="600"/>
              </a:spcAft>
              <a:buSzPct val="115000"/>
              <a:buFont typeface="Wingdings" pitchFamily="2" charset="2"/>
              <a:buChar char="§"/>
            </a:pPr>
            <a:endParaRPr lang="en-US" sz="2400" dirty="0">
              <a:latin typeface="Georgia" panose="02040502050405020303" pitchFamily="18" charset="0"/>
            </a:endParaRPr>
          </a:p>
          <a:p>
            <a:pPr marL="342900" indent="-342900">
              <a:lnSpc>
                <a:spcPct val="160000"/>
              </a:lnSpc>
              <a:spcAft>
                <a:spcPts val="600"/>
              </a:spcAft>
              <a:buSzPct val="115000"/>
              <a:buFont typeface="Wingdings" pitchFamily="2" charset="2"/>
              <a:buChar char="§"/>
            </a:pPr>
            <a:endParaRPr lang="en-US" sz="2400" dirty="0">
              <a:latin typeface="Georgia" panose="02040502050405020303" pitchFamily="18" charset="0"/>
            </a:endParaRPr>
          </a:p>
          <a:p>
            <a:pPr marL="342900" indent="-342900">
              <a:lnSpc>
                <a:spcPct val="160000"/>
              </a:lnSpc>
              <a:spcAft>
                <a:spcPts val="600"/>
              </a:spcAft>
              <a:buSzPct val="115000"/>
              <a:buFont typeface="Wingdings" pitchFamily="2" charset="2"/>
              <a:buChar char="§"/>
            </a:pPr>
            <a:endParaRPr lang="en-US" sz="2400" dirty="0">
              <a:latin typeface="Georgia" panose="02040502050405020303" pitchFamily="18" charset="0"/>
            </a:endParaRPr>
          </a:p>
          <a:p>
            <a:pPr marL="342900" indent="-342900" algn="l">
              <a:lnSpc>
                <a:spcPct val="160000"/>
              </a:lnSpc>
              <a:spcAft>
                <a:spcPts val="600"/>
              </a:spcAft>
              <a:buSzPct val="115000"/>
              <a:buFont typeface="Wingdings" pitchFamily="2" charset="2"/>
              <a:buChar char="§"/>
            </a:pPr>
            <a:endParaRPr lang="en-US" sz="2400" dirty="0">
              <a:latin typeface="Georgia" panose="020405020504050203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bldP spid="19" grpId="0" animBg="1"/>
      <p:bldP spid="20" grpId="0" animBg="1"/>
      <p:bldP spid="24"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66673" cy="10287000"/>
          </a:xfrm>
          <a:prstGeom prst="rect">
            <a:avLst/>
          </a:prstGeom>
          <a:solidFill>
            <a:srgbClr val="1C565D"/>
          </a:solidFill>
          <a:ln/>
        </p:spPr>
        <p:txBody>
          <a:bodyPr/>
          <a:lstStyle/>
          <a:p>
            <a:endParaRPr lang="en-US">
              <a:latin typeface="Georgia" panose="02040502050405020303" pitchFamily="18" charset="0"/>
            </a:endParaRPr>
          </a:p>
        </p:txBody>
      </p:sp>
      <p:sp>
        <p:nvSpPr>
          <p:cNvPr id="3" name="Shape 1"/>
          <p:cNvSpPr/>
          <p:nvPr/>
        </p:nvSpPr>
        <p:spPr>
          <a:xfrm>
            <a:off x="0" y="0"/>
            <a:ext cx="266673" cy="3394702"/>
          </a:xfrm>
          <a:prstGeom prst="rect">
            <a:avLst/>
          </a:prstGeom>
          <a:solidFill>
            <a:srgbClr val="528B8E"/>
          </a:solidFill>
          <a:ln/>
        </p:spPr>
        <p:txBody>
          <a:bodyPr/>
          <a:lstStyle/>
          <a:p>
            <a:endParaRPr lang="en-US">
              <a:latin typeface="Georgia" panose="02040502050405020303" pitchFamily="18" charset="0"/>
            </a:endParaRPr>
          </a:p>
        </p:txBody>
      </p:sp>
      <p:sp>
        <p:nvSpPr>
          <p:cNvPr id="4" name="Shape 2"/>
          <p:cNvSpPr/>
          <p:nvPr/>
        </p:nvSpPr>
        <p:spPr>
          <a:xfrm>
            <a:off x="1143000" y="994037"/>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5" name="Text 3"/>
          <p:cNvSpPr/>
          <p:nvPr/>
        </p:nvSpPr>
        <p:spPr>
          <a:xfrm>
            <a:off x="1847769" y="880589"/>
            <a:ext cx="2608781" cy="293543"/>
          </a:xfrm>
          <a:prstGeom prst="rect">
            <a:avLst/>
          </a:prstGeom>
          <a:noFill/>
          <a:ln/>
        </p:spPr>
        <p:txBody>
          <a:bodyPr wrap="square" lIns="0" tIns="0" rIns="0" bIns="0" rtlCol="0" anchor="t">
            <a:normAutofit fontScale="925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A SYSTEMS LENS</a:t>
            </a:r>
            <a:endParaRPr lang="en-US" sz="1800" dirty="0">
              <a:latin typeface="Georgia" panose="02040502050405020303" pitchFamily="18" charset="0"/>
            </a:endParaRPr>
          </a:p>
        </p:txBody>
      </p:sp>
      <p:sp>
        <p:nvSpPr>
          <p:cNvPr id="6" name="Text 4"/>
          <p:cNvSpPr/>
          <p:nvPr/>
        </p:nvSpPr>
        <p:spPr>
          <a:xfrm>
            <a:off x="1143000" y="1387958"/>
            <a:ext cx="16554450" cy="646131"/>
          </a:xfrm>
          <a:prstGeom prst="rect">
            <a:avLst/>
          </a:prstGeom>
          <a:noFill/>
          <a:ln/>
        </p:spPr>
        <p:txBody>
          <a:bodyPr wrap="square" lIns="25400" tIns="25400" rIns="25400" bIns="25400" rtlCol="0" anchor="t">
            <a:normAutofit lnSpcReduction="10000"/>
          </a:bodyPr>
          <a:lstStyle/>
          <a:p>
            <a:pPr marL="0" indent="0" algn="l">
              <a:lnSpc>
                <a:spcPct val="100320"/>
              </a:lnSpc>
              <a:buNone/>
            </a:pPr>
            <a:r>
              <a:rPr lang="en-US" sz="4200" kern="0" spc="-34" dirty="0">
                <a:solidFill>
                  <a:srgbClr val="1C2A2E"/>
                </a:solidFill>
                <a:latin typeface="Georgia" panose="02040502050405020303" pitchFamily="18" charset="0"/>
                <a:ea typeface="Georgia" pitchFamily="34" charset="-122"/>
                <a:cs typeface="Georgia" pitchFamily="34" charset="-120"/>
              </a:rPr>
              <a:t>What May Show Up Relationally</a:t>
            </a:r>
            <a:endParaRPr lang="en-US" sz="4200" dirty="0">
              <a:latin typeface="Georgia" panose="02040502050405020303" pitchFamily="18" charset="0"/>
            </a:endParaRPr>
          </a:p>
        </p:txBody>
      </p:sp>
      <p:sp>
        <p:nvSpPr>
          <p:cNvPr id="7" name="Shape 5"/>
          <p:cNvSpPr/>
          <p:nvPr/>
        </p:nvSpPr>
        <p:spPr>
          <a:xfrm>
            <a:off x="1143000" y="3008089"/>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8" name="Text 6"/>
          <p:cNvSpPr/>
          <p:nvPr/>
        </p:nvSpPr>
        <p:spPr>
          <a:xfrm>
            <a:off x="1416573" y="3008089"/>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Repeated misunderstandings about intent</a:t>
            </a:r>
            <a:endParaRPr lang="en-US" sz="2250" dirty="0">
              <a:latin typeface="Georgia" panose="02040502050405020303" pitchFamily="18" charset="0"/>
            </a:endParaRPr>
          </a:p>
        </p:txBody>
      </p:sp>
      <p:sp>
        <p:nvSpPr>
          <p:cNvPr id="9" name="Text 7"/>
          <p:cNvSpPr/>
          <p:nvPr/>
        </p:nvSpPr>
        <p:spPr>
          <a:xfrm>
            <a:off x="1416573" y="3408031"/>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“You don’t care.” • “You’re not listening.” • “You’re doing this on purpose.”</a:t>
            </a:r>
            <a:endParaRPr lang="en-US" sz="1875" dirty="0">
              <a:latin typeface="Georgia" panose="02040502050405020303" pitchFamily="18" charset="0"/>
            </a:endParaRPr>
          </a:p>
        </p:txBody>
      </p:sp>
      <p:sp>
        <p:nvSpPr>
          <p:cNvPr id="10" name="Shape 8"/>
          <p:cNvSpPr/>
          <p:nvPr/>
        </p:nvSpPr>
        <p:spPr>
          <a:xfrm>
            <a:off x="9524999" y="3008089"/>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11" name="Text 9"/>
          <p:cNvSpPr/>
          <p:nvPr/>
        </p:nvSpPr>
        <p:spPr>
          <a:xfrm>
            <a:off x="9798573" y="3008089"/>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Mismatch in pace, intensity, or flexibility</a:t>
            </a:r>
            <a:endParaRPr lang="en-US" sz="2250" dirty="0">
              <a:latin typeface="Georgia" panose="02040502050405020303" pitchFamily="18" charset="0"/>
            </a:endParaRPr>
          </a:p>
        </p:txBody>
      </p:sp>
      <p:sp>
        <p:nvSpPr>
          <p:cNvPr id="12" name="Text 10"/>
          <p:cNvSpPr/>
          <p:nvPr/>
        </p:nvSpPr>
        <p:spPr>
          <a:xfrm>
            <a:off x="9798573" y="3408031"/>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different needs for processing time, predictability, change, or stimulation</a:t>
            </a:r>
            <a:endParaRPr lang="en-US" sz="1875" dirty="0">
              <a:latin typeface="Georgia" panose="02040502050405020303" pitchFamily="18" charset="0"/>
            </a:endParaRPr>
          </a:p>
        </p:txBody>
      </p:sp>
      <p:sp>
        <p:nvSpPr>
          <p:cNvPr id="13" name="Shape 11"/>
          <p:cNvSpPr/>
          <p:nvPr/>
        </p:nvSpPr>
        <p:spPr>
          <a:xfrm>
            <a:off x="1143000" y="4284223"/>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14" name="Text 12"/>
          <p:cNvSpPr/>
          <p:nvPr/>
        </p:nvSpPr>
        <p:spPr>
          <a:xfrm>
            <a:off x="1416573" y="4284223"/>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Cycles of prompting and frustration</a:t>
            </a:r>
            <a:endParaRPr lang="en-US" sz="2250" dirty="0">
              <a:latin typeface="Georgia" panose="02040502050405020303" pitchFamily="18" charset="0"/>
            </a:endParaRPr>
          </a:p>
        </p:txBody>
      </p:sp>
      <p:sp>
        <p:nvSpPr>
          <p:cNvPr id="15" name="Text 13"/>
          <p:cNvSpPr/>
          <p:nvPr/>
        </p:nvSpPr>
        <p:spPr>
          <a:xfrm>
            <a:off x="1416573" y="4684164"/>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repeated reminders → increasing pressure → avoidance, shutdown, or escalation</a:t>
            </a:r>
            <a:endParaRPr lang="en-US" sz="1875" dirty="0">
              <a:latin typeface="Georgia" panose="02040502050405020303" pitchFamily="18" charset="0"/>
            </a:endParaRPr>
          </a:p>
        </p:txBody>
      </p:sp>
      <p:sp>
        <p:nvSpPr>
          <p:cNvPr id="16" name="Shape 14"/>
          <p:cNvSpPr/>
          <p:nvPr/>
        </p:nvSpPr>
        <p:spPr>
          <a:xfrm>
            <a:off x="9524999" y="4284223"/>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17" name="Text 15"/>
          <p:cNvSpPr/>
          <p:nvPr/>
        </p:nvSpPr>
        <p:spPr>
          <a:xfrm>
            <a:off x="9798573" y="4284223"/>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Criticism and shame</a:t>
            </a:r>
            <a:endParaRPr lang="en-US" sz="2250" dirty="0">
              <a:latin typeface="Georgia" panose="02040502050405020303" pitchFamily="18" charset="0"/>
            </a:endParaRPr>
          </a:p>
        </p:txBody>
      </p:sp>
      <p:sp>
        <p:nvSpPr>
          <p:cNvPr id="18" name="Text 16"/>
          <p:cNvSpPr/>
          <p:nvPr/>
        </p:nvSpPr>
        <p:spPr>
          <a:xfrm>
            <a:off x="9798573" y="4684164"/>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one person feels chronically corrected while another feels ignored, disappointed, or overburdened</a:t>
            </a:r>
            <a:endParaRPr lang="en-US" sz="1875" dirty="0">
              <a:latin typeface="Georgia" panose="02040502050405020303" pitchFamily="18" charset="0"/>
            </a:endParaRPr>
          </a:p>
        </p:txBody>
      </p:sp>
      <p:sp>
        <p:nvSpPr>
          <p:cNvPr id="19" name="Shape 17"/>
          <p:cNvSpPr/>
          <p:nvPr/>
        </p:nvSpPr>
        <p:spPr>
          <a:xfrm>
            <a:off x="1143000" y="5560356"/>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20" name="Text 18"/>
          <p:cNvSpPr/>
          <p:nvPr/>
        </p:nvSpPr>
        <p:spPr>
          <a:xfrm>
            <a:off x="1416573" y="5560356"/>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Masking followed by collapse</a:t>
            </a:r>
            <a:endParaRPr lang="en-US" sz="2250" dirty="0">
              <a:latin typeface="Georgia" panose="02040502050405020303" pitchFamily="18" charset="0"/>
            </a:endParaRPr>
          </a:p>
        </p:txBody>
      </p:sp>
      <p:sp>
        <p:nvSpPr>
          <p:cNvPr id="21" name="Text 19"/>
          <p:cNvSpPr/>
          <p:nvPr/>
        </p:nvSpPr>
        <p:spPr>
          <a:xfrm>
            <a:off x="1416573" y="5960298"/>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functioning may look very different with trusted people than in more public or structured settings</a:t>
            </a:r>
            <a:endParaRPr lang="en-US" sz="1875" dirty="0">
              <a:latin typeface="Georgia" panose="02040502050405020303" pitchFamily="18" charset="0"/>
            </a:endParaRPr>
          </a:p>
        </p:txBody>
      </p:sp>
      <p:sp>
        <p:nvSpPr>
          <p:cNvPr id="22" name="Shape 20"/>
          <p:cNvSpPr/>
          <p:nvPr/>
        </p:nvSpPr>
        <p:spPr>
          <a:xfrm>
            <a:off x="9524999" y="5560356"/>
            <a:ext cx="25977" cy="1028538"/>
          </a:xfrm>
          <a:prstGeom prst="rect">
            <a:avLst/>
          </a:prstGeom>
          <a:solidFill>
            <a:srgbClr val="ADD3D5"/>
          </a:solidFill>
          <a:ln/>
        </p:spPr>
        <p:txBody>
          <a:bodyPr/>
          <a:lstStyle/>
          <a:p>
            <a:endParaRPr lang="en-US">
              <a:latin typeface="Georgia" panose="02040502050405020303" pitchFamily="18" charset="0"/>
            </a:endParaRPr>
          </a:p>
        </p:txBody>
      </p:sp>
      <p:sp>
        <p:nvSpPr>
          <p:cNvPr id="23" name="Text 21"/>
          <p:cNvSpPr/>
          <p:nvPr/>
        </p:nvSpPr>
        <p:spPr>
          <a:xfrm>
            <a:off x="9798573" y="5560356"/>
            <a:ext cx="8081069" cy="380946"/>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2250" b="1" dirty="0">
                <a:solidFill>
                  <a:srgbClr val="1C565D"/>
                </a:solidFill>
                <a:latin typeface="Georgia" panose="02040502050405020303" pitchFamily="18" charset="0"/>
                <a:ea typeface="Georgia" pitchFamily="34" charset="-122"/>
                <a:cs typeface="Georgia" pitchFamily="34" charset="-120"/>
              </a:rPr>
              <a:t>Difficulty with repair</a:t>
            </a:r>
            <a:endParaRPr lang="en-US" sz="2250" dirty="0">
              <a:latin typeface="Georgia" panose="02040502050405020303" pitchFamily="18" charset="0"/>
            </a:endParaRPr>
          </a:p>
        </p:txBody>
      </p:sp>
      <p:sp>
        <p:nvSpPr>
          <p:cNvPr id="24" name="Text 22"/>
          <p:cNvSpPr/>
          <p:nvPr/>
        </p:nvSpPr>
        <p:spPr>
          <a:xfrm>
            <a:off x="9798573" y="5960298"/>
            <a:ext cx="7566819" cy="666696"/>
          </a:xfrm>
          <a:prstGeom prst="rect">
            <a:avLst/>
          </a:prstGeom>
          <a:noFill/>
          <a:ln/>
        </p:spPr>
        <p:txBody>
          <a:bodyPr wrap="square" lIns="25400" tIns="25400" rIns="25400" bIns="25400" rtlCol="0" anchor="t">
            <a:normAutofit lnSpcReduction="10000"/>
          </a:bodyPr>
          <a:lstStyle/>
          <a:p>
            <a:pPr marL="0" indent="0" algn="l">
              <a:lnSpc>
                <a:spcPct val="113438"/>
              </a:lnSpc>
              <a:buNone/>
            </a:pPr>
            <a:r>
              <a:rPr lang="en-US" sz="1875" dirty="0">
                <a:solidFill>
                  <a:srgbClr val="55676C"/>
                </a:solidFill>
                <a:latin typeface="Georgia" panose="02040502050405020303" pitchFamily="18" charset="0"/>
                <a:ea typeface="Arial" pitchFamily="34" charset="-122"/>
                <a:cs typeface="Arial" pitchFamily="34" charset="-120"/>
              </a:rPr>
              <a:t>emotional intensity or shutdown can make it harder to reconnect after conflict</a:t>
            </a:r>
            <a:endParaRPr lang="en-US" sz="1875" dirty="0">
              <a:latin typeface="Georgia" panose="02040502050405020303" pitchFamily="18" charset="0"/>
            </a:endParaRPr>
          </a:p>
        </p:txBody>
      </p:sp>
      <p:sp>
        <p:nvSpPr>
          <p:cNvPr id="25" name="Shape 23"/>
          <p:cNvSpPr/>
          <p:nvPr/>
        </p:nvSpPr>
        <p:spPr>
          <a:xfrm>
            <a:off x="1143000" y="8275317"/>
            <a:ext cx="16002000" cy="1021096"/>
          </a:xfrm>
          <a:prstGeom prst="rect">
            <a:avLst/>
          </a:prstGeom>
          <a:solidFill>
            <a:srgbClr val="1C565D"/>
          </a:solidFill>
          <a:ln/>
        </p:spPr>
        <p:txBody>
          <a:bodyPr/>
          <a:lstStyle/>
          <a:p>
            <a:endParaRPr lang="en-US">
              <a:latin typeface="Georgia" panose="02040502050405020303" pitchFamily="18" charset="0"/>
            </a:endParaRPr>
          </a:p>
        </p:txBody>
      </p:sp>
      <p:sp>
        <p:nvSpPr>
          <p:cNvPr id="26" name="Text 24"/>
          <p:cNvSpPr/>
          <p:nvPr/>
        </p:nvSpPr>
        <p:spPr>
          <a:xfrm>
            <a:off x="1524000" y="8561067"/>
            <a:ext cx="15720060" cy="449596"/>
          </a:xfrm>
          <a:prstGeom prst="rect">
            <a:avLst/>
          </a:prstGeom>
          <a:noFill/>
          <a:ln/>
        </p:spPr>
        <p:txBody>
          <a:bodyPr wrap="square" lIns="25400" tIns="25400" rIns="25400" bIns="25400" rtlCol="0" anchor="t">
            <a:normAutofit/>
          </a:bodyPr>
          <a:lstStyle/>
          <a:p>
            <a:pPr marL="0" indent="0" algn="l">
              <a:lnSpc>
                <a:spcPct val="118800"/>
              </a:lnSpc>
              <a:buNone/>
            </a:pPr>
            <a:r>
              <a:rPr lang="en-US" sz="2400" dirty="0">
                <a:solidFill>
                  <a:srgbClr val="FFFFFF"/>
                </a:solidFill>
                <a:latin typeface="Georgia" panose="02040502050405020303" pitchFamily="18" charset="0"/>
                <a:ea typeface="Georgia" pitchFamily="34" charset="-122"/>
                <a:cs typeface="Georgia" pitchFamily="34" charset="-120"/>
              </a:rPr>
              <a:t>When behaviour is misunderstood, the response to it can intensify the very pattern everyone is trying to change.</a:t>
            </a:r>
            <a:endParaRPr lang="en-US" sz="2400" dirty="0">
              <a:latin typeface="Georgia" panose="02040502050405020303" pitchFamily="18" charset="0"/>
            </a:endParaRPr>
          </a:p>
        </p:txBody>
      </p:sp>
      <p:sp>
        <p:nvSpPr>
          <p:cNvPr id="27" name="Text 25"/>
          <p:cNvSpPr/>
          <p:nvPr/>
        </p:nvSpPr>
        <p:spPr>
          <a:xfrm>
            <a:off x="1143000" y="9565724"/>
            <a:ext cx="8725123" cy="302202"/>
          </a:xfrm>
          <a:prstGeom prst="rect">
            <a:avLst/>
          </a:prstGeom>
          <a:noFill/>
          <a:ln/>
        </p:spPr>
        <p:txBody>
          <a:bodyPr wrap="none" lIns="25400" tIns="25400" rIns="25400" bIns="25400" rtlCol="0" anchor="t">
            <a:normAutofit lnSpcReduction="10000"/>
          </a:bodyPr>
          <a:lstStyle/>
          <a:p>
            <a:pPr marL="0" indent="0" algn="l">
              <a:buNone/>
            </a:pPr>
            <a:r>
              <a:rPr lang="en-US" sz="1800" b="1" kern="0" spc="72" dirty="0">
                <a:solidFill>
                  <a:srgbClr val="55676C"/>
                </a:solidFill>
                <a:latin typeface="Georgia" panose="02040502050405020303" pitchFamily="18" charset="0"/>
                <a:ea typeface="Arial" pitchFamily="34" charset="-122"/>
                <a:cs typeface="Arial" pitchFamily="34" charset="-120"/>
              </a:rPr>
              <a:t>Understanding Neurodivergence — In a Counselling and Family Context</a:t>
            </a:r>
            <a:endParaRPr lang="en-US" sz="1800" dirty="0">
              <a:latin typeface="Georgia" panose="02040502050405020303" pitchFamily="18" charset="0"/>
            </a:endParaRPr>
          </a:p>
        </p:txBody>
      </p:sp>
      <p:sp>
        <p:nvSpPr>
          <p:cNvPr id="28" name="Shape 26"/>
          <p:cNvSpPr/>
          <p:nvPr/>
        </p:nvSpPr>
        <p:spPr>
          <a:xfrm>
            <a:off x="16624777" y="9640612"/>
            <a:ext cx="114259" cy="114259"/>
          </a:xfrm>
          <a:prstGeom prst="rect">
            <a:avLst/>
          </a:prstGeom>
          <a:solidFill>
            <a:srgbClr val="1C565D"/>
          </a:solidFill>
          <a:ln/>
        </p:spPr>
        <p:txBody>
          <a:bodyPr/>
          <a:lstStyle/>
          <a:p>
            <a:endParaRPr lang="en-US">
              <a:latin typeface="Georgia" panose="02040502050405020303" pitchFamily="18" charset="0"/>
            </a:endParaRPr>
          </a:p>
        </p:txBody>
      </p:sp>
      <p:sp>
        <p:nvSpPr>
          <p:cNvPr id="29" name="Text 27"/>
          <p:cNvSpPr/>
          <p:nvPr/>
        </p:nvSpPr>
        <p:spPr>
          <a:xfrm>
            <a:off x="16872374" y="9570054"/>
            <a:ext cx="348825" cy="293543"/>
          </a:xfrm>
          <a:prstGeom prst="rect">
            <a:avLst/>
          </a:prstGeom>
          <a:noFill/>
          <a:ln/>
        </p:spPr>
        <p:txBody>
          <a:bodyPr wrap="none" lIns="0" tIns="0" rIns="0" bIns="0" rtlCol="0" anchor="t">
            <a:normAutofit/>
          </a:bodyPr>
          <a:lstStyle/>
          <a:p>
            <a:pPr marL="0" indent="0" algn="l">
              <a:buNone/>
            </a:pPr>
            <a:r>
              <a:rPr lang="en-US" sz="1800" b="1" kern="0" spc="72" dirty="0">
                <a:solidFill>
                  <a:srgbClr val="1C565D"/>
                </a:solidFill>
                <a:latin typeface="Georgia" panose="02040502050405020303" pitchFamily="18" charset="0"/>
                <a:ea typeface="Arial" pitchFamily="34" charset="-122"/>
                <a:cs typeface="Arial" pitchFamily="34" charset="-120"/>
              </a:rPr>
              <a:t>10</a:t>
            </a:r>
            <a:endParaRPr lang="en-US" sz="1800" dirty="0">
              <a:latin typeface="Georgia" panose="02040502050405020303"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66673" cy="10287000"/>
          </a:xfrm>
          <a:prstGeom prst="rect">
            <a:avLst/>
          </a:prstGeom>
          <a:solidFill>
            <a:srgbClr val="1C565D"/>
          </a:solidFill>
          <a:ln/>
        </p:spPr>
        <p:txBody>
          <a:bodyPr/>
          <a:lstStyle/>
          <a:p>
            <a:endParaRPr lang="en-US">
              <a:latin typeface="Georgia" panose="02040502050405020303" pitchFamily="18" charset="0"/>
            </a:endParaRPr>
          </a:p>
        </p:txBody>
      </p:sp>
      <p:sp>
        <p:nvSpPr>
          <p:cNvPr id="3" name="Shape 1"/>
          <p:cNvSpPr/>
          <p:nvPr/>
        </p:nvSpPr>
        <p:spPr>
          <a:xfrm>
            <a:off x="0" y="0"/>
            <a:ext cx="266673" cy="3394702"/>
          </a:xfrm>
          <a:prstGeom prst="rect">
            <a:avLst/>
          </a:prstGeom>
          <a:solidFill>
            <a:srgbClr val="528B8E"/>
          </a:solidFill>
          <a:ln/>
        </p:spPr>
        <p:txBody>
          <a:bodyPr/>
          <a:lstStyle/>
          <a:p>
            <a:endParaRPr lang="en-US">
              <a:latin typeface="Georgia" panose="02040502050405020303" pitchFamily="18" charset="0"/>
            </a:endParaRPr>
          </a:p>
        </p:txBody>
      </p:sp>
      <p:sp>
        <p:nvSpPr>
          <p:cNvPr id="4" name="Shape 2"/>
          <p:cNvSpPr/>
          <p:nvPr/>
        </p:nvSpPr>
        <p:spPr>
          <a:xfrm>
            <a:off x="1143000" y="994037"/>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5" name="Text 3"/>
          <p:cNvSpPr/>
          <p:nvPr/>
        </p:nvSpPr>
        <p:spPr>
          <a:xfrm>
            <a:off x="1847769" y="880589"/>
            <a:ext cx="2455962" cy="293543"/>
          </a:xfrm>
          <a:prstGeom prst="rect">
            <a:avLst/>
          </a:prstGeom>
          <a:noFill/>
          <a:ln/>
        </p:spPr>
        <p:txBody>
          <a:bodyPr wrap="square" lIns="0" tIns="0" rIns="0" bIns="0" rtlCol="0" anchor="t">
            <a:normAutofit fontScale="85000" lnSpcReduction="100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THE INDIVIDUAL</a:t>
            </a:r>
            <a:endParaRPr lang="en-US" sz="1800" dirty="0">
              <a:latin typeface="Georgia" panose="02040502050405020303" pitchFamily="18" charset="0"/>
            </a:endParaRPr>
          </a:p>
        </p:txBody>
      </p:sp>
      <p:sp>
        <p:nvSpPr>
          <p:cNvPr id="6" name="Text 4"/>
          <p:cNvSpPr/>
          <p:nvPr/>
        </p:nvSpPr>
        <p:spPr>
          <a:xfrm>
            <a:off x="1143000" y="1387958"/>
            <a:ext cx="16554450" cy="646131"/>
          </a:xfrm>
          <a:prstGeom prst="rect">
            <a:avLst/>
          </a:prstGeom>
          <a:noFill/>
          <a:ln/>
        </p:spPr>
        <p:txBody>
          <a:bodyPr wrap="square" lIns="25400" tIns="25400" rIns="25400" bIns="25400" rtlCol="0" anchor="t">
            <a:normAutofit lnSpcReduction="10000"/>
          </a:bodyPr>
          <a:lstStyle/>
          <a:p>
            <a:pPr marL="0" indent="0" algn="l">
              <a:lnSpc>
                <a:spcPct val="100320"/>
              </a:lnSpc>
              <a:buNone/>
            </a:pPr>
            <a:r>
              <a:rPr lang="en-US" sz="4200" kern="0" spc="-34" dirty="0">
                <a:solidFill>
                  <a:srgbClr val="1C2A2E"/>
                </a:solidFill>
                <a:latin typeface="Georgia" panose="02040502050405020303" pitchFamily="18" charset="0"/>
                <a:ea typeface="Georgia" pitchFamily="34" charset="-122"/>
                <a:cs typeface="Georgia" pitchFamily="34" charset="-120"/>
              </a:rPr>
              <a:t>What Might Show up for the Individual?</a:t>
            </a:r>
            <a:endParaRPr lang="en-US" sz="4200" dirty="0">
              <a:latin typeface="Georgia" panose="02040502050405020303" pitchFamily="18" charset="0"/>
            </a:endParaRPr>
          </a:p>
        </p:txBody>
      </p:sp>
      <p:sp>
        <p:nvSpPr>
          <p:cNvPr id="7" name="Shape 5"/>
          <p:cNvSpPr/>
          <p:nvPr/>
        </p:nvSpPr>
        <p:spPr>
          <a:xfrm>
            <a:off x="1143000" y="3356412"/>
            <a:ext cx="104721" cy="104721"/>
          </a:xfrm>
          <a:prstGeom prst="rect">
            <a:avLst/>
          </a:prstGeom>
          <a:solidFill>
            <a:srgbClr val="1C565D"/>
          </a:solidFill>
          <a:ln/>
        </p:spPr>
        <p:txBody>
          <a:bodyPr/>
          <a:lstStyle/>
          <a:p>
            <a:endParaRPr lang="en-US">
              <a:latin typeface="Georgia" panose="02040502050405020303" pitchFamily="18" charset="0"/>
            </a:endParaRPr>
          </a:p>
        </p:txBody>
      </p:sp>
      <p:sp>
        <p:nvSpPr>
          <p:cNvPr id="8" name="Text 6"/>
          <p:cNvSpPr/>
          <p:nvPr/>
        </p:nvSpPr>
        <p:spPr>
          <a:xfrm>
            <a:off x="1466836" y="3215296"/>
            <a:ext cx="5411172" cy="799762"/>
          </a:xfrm>
          <a:prstGeom prst="rect">
            <a:avLst/>
          </a:prstGeom>
          <a:noFill/>
          <a:ln/>
        </p:spPr>
        <p:txBody>
          <a:bodyPr wrap="square" lIns="0" tIns="0" rIns="0" bIns="0" rtlCol="0" anchor="t">
            <a:normAutofit lnSpcReduction="10000"/>
          </a:bodyPr>
          <a:lstStyle/>
          <a:p>
            <a:pPr marL="0" indent="0" algn="l">
              <a:lnSpc>
                <a:spcPct val="114726"/>
              </a:lnSpc>
              <a:buNone/>
            </a:pPr>
            <a:r>
              <a:rPr lang="en-US" sz="2400" dirty="0">
                <a:solidFill>
                  <a:srgbClr val="1C2A2E"/>
                </a:solidFill>
                <a:latin typeface="Georgia" panose="02040502050405020303" pitchFamily="18" charset="0"/>
                <a:ea typeface="Arial" pitchFamily="34" charset="-122"/>
                <a:cs typeface="Arial" pitchFamily="34" charset="-120"/>
              </a:rPr>
              <a:t>Overwhelm that is difficult to identify or communicate</a:t>
            </a:r>
            <a:endParaRPr lang="en-US" sz="2400" dirty="0">
              <a:latin typeface="Georgia" panose="02040502050405020303" pitchFamily="18" charset="0"/>
            </a:endParaRPr>
          </a:p>
        </p:txBody>
      </p:sp>
      <p:sp>
        <p:nvSpPr>
          <p:cNvPr id="9" name="Shape 7"/>
          <p:cNvSpPr/>
          <p:nvPr/>
        </p:nvSpPr>
        <p:spPr>
          <a:xfrm>
            <a:off x="9505923" y="3356412"/>
            <a:ext cx="104721" cy="104721"/>
          </a:xfrm>
          <a:prstGeom prst="rect">
            <a:avLst/>
          </a:prstGeom>
          <a:solidFill>
            <a:srgbClr val="1C565D"/>
          </a:solidFill>
          <a:ln/>
        </p:spPr>
        <p:txBody>
          <a:bodyPr/>
          <a:lstStyle/>
          <a:p>
            <a:endParaRPr lang="en-US">
              <a:latin typeface="Georgia" panose="02040502050405020303" pitchFamily="18" charset="0"/>
            </a:endParaRPr>
          </a:p>
        </p:txBody>
      </p:sp>
      <p:sp>
        <p:nvSpPr>
          <p:cNvPr id="10" name="Text 8"/>
          <p:cNvSpPr/>
          <p:nvPr/>
        </p:nvSpPr>
        <p:spPr>
          <a:xfrm>
            <a:off x="9829759" y="3215296"/>
            <a:ext cx="6625948" cy="799762"/>
          </a:xfrm>
          <a:prstGeom prst="rect">
            <a:avLst/>
          </a:prstGeom>
          <a:noFill/>
          <a:ln/>
        </p:spPr>
        <p:txBody>
          <a:bodyPr wrap="square" lIns="0" tIns="0" rIns="0" bIns="0" rtlCol="0" anchor="t">
            <a:normAutofit lnSpcReduction="10000"/>
          </a:bodyPr>
          <a:lstStyle/>
          <a:p>
            <a:pPr marL="0" indent="0" algn="l">
              <a:lnSpc>
                <a:spcPct val="114726"/>
              </a:lnSpc>
              <a:buNone/>
            </a:pPr>
            <a:r>
              <a:rPr lang="en-US" sz="2400" dirty="0">
                <a:solidFill>
                  <a:srgbClr val="1C2A2E"/>
                </a:solidFill>
                <a:latin typeface="Georgia" panose="02040502050405020303" pitchFamily="18" charset="0"/>
                <a:ea typeface="Arial" pitchFamily="34" charset="-122"/>
                <a:cs typeface="Arial" pitchFamily="34" charset="-120"/>
              </a:rPr>
              <a:t>Shame from repeated experiences of “getting it wrong”</a:t>
            </a:r>
            <a:endParaRPr lang="en-US" sz="2400" dirty="0">
              <a:latin typeface="Georgia" panose="02040502050405020303" pitchFamily="18" charset="0"/>
            </a:endParaRPr>
          </a:p>
        </p:txBody>
      </p:sp>
      <p:sp>
        <p:nvSpPr>
          <p:cNvPr id="11" name="Shape 9"/>
          <p:cNvSpPr/>
          <p:nvPr/>
        </p:nvSpPr>
        <p:spPr>
          <a:xfrm>
            <a:off x="1143000" y="4389618"/>
            <a:ext cx="104721" cy="104721"/>
          </a:xfrm>
          <a:prstGeom prst="rect">
            <a:avLst/>
          </a:prstGeom>
          <a:solidFill>
            <a:srgbClr val="1C565D"/>
          </a:solidFill>
          <a:ln/>
        </p:spPr>
        <p:txBody>
          <a:bodyPr/>
          <a:lstStyle/>
          <a:p>
            <a:endParaRPr lang="en-US">
              <a:latin typeface="Georgia" panose="02040502050405020303" pitchFamily="18" charset="0"/>
            </a:endParaRPr>
          </a:p>
        </p:txBody>
      </p:sp>
      <p:sp>
        <p:nvSpPr>
          <p:cNvPr id="12" name="Text 10"/>
          <p:cNvSpPr/>
          <p:nvPr/>
        </p:nvSpPr>
        <p:spPr>
          <a:xfrm>
            <a:off x="1466836" y="4248502"/>
            <a:ext cx="6462273" cy="799762"/>
          </a:xfrm>
          <a:prstGeom prst="rect">
            <a:avLst/>
          </a:prstGeom>
          <a:noFill/>
          <a:ln/>
        </p:spPr>
        <p:txBody>
          <a:bodyPr wrap="square" lIns="0" tIns="0" rIns="0" bIns="0" rtlCol="0" anchor="t">
            <a:normAutofit lnSpcReduction="10000"/>
          </a:bodyPr>
          <a:lstStyle/>
          <a:p>
            <a:pPr marL="0" indent="0" algn="l">
              <a:lnSpc>
                <a:spcPct val="114726"/>
              </a:lnSpc>
              <a:buNone/>
            </a:pPr>
            <a:r>
              <a:rPr lang="en-US" sz="2400" dirty="0">
                <a:solidFill>
                  <a:srgbClr val="1C2A2E"/>
                </a:solidFill>
                <a:latin typeface="Georgia" panose="02040502050405020303" pitchFamily="18" charset="0"/>
                <a:ea typeface="Arial" pitchFamily="34" charset="-122"/>
                <a:cs typeface="Arial" pitchFamily="34" charset="-120"/>
              </a:rPr>
              <a:t>Frustration when ability and performance do not match</a:t>
            </a:r>
            <a:endParaRPr lang="en-US" sz="2400" dirty="0">
              <a:latin typeface="Georgia" panose="02040502050405020303" pitchFamily="18" charset="0"/>
            </a:endParaRPr>
          </a:p>
        </p:txBody>
      </p:sp>
      <p:sp>
        <p:nvSpPr>
          <p:cNvPr id="13" name="Shape 11"/>
          <p:cNvSpPr/>
          <p:nvPr/>
        </p:nvSpPr>
        <p:spPr>
          <a:xfrm>
            <a:off x="9505923" y="4389618"/>
            <a:ext cx="104721" cy="104721"/>
          </a:xfrm>
          <a:prstGeom prst="rect">
            <a:avLst/>
          </a:prstGeom>
          <a:solidFill>
            <a:srgbClr val="1C565D"/>
          </a:solidFill>
          <a:ln/>
        </p:spPr>
        <p:txBody>
          <a:bodyPr/>
          <a:lstStyle/>
          <a:p>
            <a:endParaRPr lang="en-US">
              <a:latin typeface="Georgia" panose="02040502050405020303" pitchFamily="18" charset="0"/>
            </a:endParaRPr>
          </a:p>
        </p:txBody>
      </p:sp>
      <p:sp>
        <p:nvSpPr>
          <p:cNvPr id="14" name="Text 12"/>
          <p:cNvSpPr/>
          <p:nvPr/>
        </p:nvSpPr>
        <p:spPr>
          <a:xfrm>
            <a:off x="9829759" y="4248502"/>
            <a:ext cx="6231289" cy="397452"/>
          </a:xfrm>
          <a:prstGeom prst="rect">
            <a:avLst/>
          </a:prstGeom>
          <a:noFill/>
          <a:ln/>
        </p:spPr>
        <p:txBody>
          <a:bodyPr wrap="square" lIns="0" tIns="0" rIns="0" bIns="0" rtlCol="0" anchor="t">
            <a:normAutofit/>
          </a:bodyPr>
          <a:lstStyle/>
          <a:p>
            <a:pPr marL="0" indent="0" algn="l">
              <a:lnSpc>
                <a:spcPct val="114726"/>
              </a:lnSpc>
              <a:buNone/>
            </a:pPr>
            <a:r>
              <a:rPr lang="en-US" sz="2400" dirty="0">
                <a:solidFill>
                  <a:srgbClr val="1C2A2E"/>
                </a:solidFill>
                <a:latin typeface="Georgia" panose="02040502050405020303" pitchFamily="18" charset="0"/>
                <a:ea typeface="Arial" pitchFamily="34" charset="-122"/>
                <a:cs typeface="Arial" pitchFamily="34" charset="-120"/>
              </a:rPr>
              <a:t>Fear of criticism, disappointment, or failure</a:t>
            </a:r>
            <a:endParaRPr lang="en-US" sz="2400" dirty="0">
              <a:latin typeface="Georgia" panose="02040502050405020303" pitchFamily="18" charset="0"/>
            </a:endParaRPr>
          </a:p>
        </p:txBody>
      </p:sp>
      <p:sp>
        <p:nvSpPr>
          <p:cNvPr id="15" name="Shape 13"/>
          <p:cNvSpPr/>
          <p:nvPr/>
        </p:nvSpPr>
        <p:spPr>
          <a:xfrm>
            <a:off x="1143000" y="5422823"/>
            <a:ext cx="104721" cy="104721"/>
          </a:xfrm>
          <a:prstGeom prst="rect">
            <a:avLst/>
          </a:prstGeom>
          <a:solidFill>
            <a:srgbClr val="1C565D"/>
          </a:solidFill>
          <a:ln/>
        </p:spPr>
        <p:txBody>
          <a:bodyPr/>
          <a:lstStyle/>
          <a:p>
            <a:endParaRPr lang="en-US">
              <a:latin typeface="Georgia" panose="02040502050405020303" pitchFamily="18" charset="0"/>
            </a:endParaRPr>
          </a:p>
        </p:txBody>
      </p:sp>
      <p:sp>
        <p:nvSpPr>
          <p:cNvPr id="16" name="Text 14"/>
          <p:cNvSpPr/>
          <p:nvPr/>
        </p:nvSpPr>
        <p:spPr>
          <a:xfrm>
            <a:off x="1466836" y="5281707"/>
            <a:ext cx="6487985" cy="397452"/>
          </a:xfrm>
          <a:prstGeom prst="rect">
            <a:avLst/>
          </a:prstGeom>
          <a:noFill/>
          <a:ln/>
        </p:spPr>
        <p:txBody>
          <a:bodyPr wrap="square" lIns="0" tIns="0" rIns="0" bIns="0" rtlCol="0" anchor="t">
            <a:normAutofit/>
          </a:bodyPr>
          <a:lstStyle/>
          <a:p>
            <a:pPr marL="0" indent="0" algn="l">
              <a:lnSpc>
                <a:spcPct val="114726"/>
              </a:lnSpc>
              <a:buNone/>
            </a:pPr>
            <a:r>
              <a:rPr lang="en-US" sz="2400" dirty="0">
                <a:solidFill>
                  <a:srgbClr val="1C2A2E"/>
                </a:solidFill>
                <a:latin typeface="Georgia" panose="02040502050405020303" pitchFamily="18" charset="0"/>
                <a:ea typeface="Arial" pitchFamily="34" charset="-122"/>
                <a:cs typeface="Arial" pitchFamily="34" charset="-120"/>
              </a:rPr>
              <a:t>Difficulty shifting once emotionally activated</a:t>
            </a:r>
            <a:endParaRPr lang="en-US" sz="2400" dirty="0">
              <a:latin typeface="Georgia" panose="02040502050405020303" pitchFamily="18" charset="0"/>
            </a:endParaRPr>
          </a:p>
        </p:txBody>
      </p:sp>
      <p:sp>
        <p:nvSpPr>
          <p:cNvPr id="17" name="Shape 15"/>
          <p:cNvSpPr/>
          <p:nvPr/>
        </p:nvSpPr>
        <p:spPr>
          <a:xfrm>
            <a:off x="9505923" y="5422823"/>
            <a:ext cx="104721" cy="104721"/>
          </a:xfrm>
          <a:prstGeom prst="rect">
            <a:avLst/>
          </a:prstGeom>
          <a:solidFill>
            <a:srgbClr val="1C565D"/>
          </a:solidFill>
          <a:ln/>
        </p:spPr>
        <p:txBody>
          <a:bodyPr/>
          <a:lstStyle/>
          <a:p>
            <a:endParaRPr lang="en-US">
              <a:latin typeface="Georgia" panose="02040502050405020303" pitchFamily="18" charset="0"/>
            </a:endParaRPr>
          </a:p>
        </p:txBody>
      </p:sp>
      <p:sp>
        <p:nvSpPr>
          <p:cNvPr id="18" name="Text 16"/>
          <p:cNvSpPr/>
          <p:nvPr/>
        </p:nvSpPr>
        <p:spPr>
          <a:xfrm>
            <a:off x="9829759" y="5281707"/>
            <a:ext cx="6465339" cy="397452"/>
          </a:xfrm>
          <a:prstGeom prst="rect">
            <a:avLst/>
          </a:prstGeom>
          <a:noFill/>
          <a:ln/>
        </p:spPr>
        <p:txBody>
          <a:bodyPr wrap="square" lIns="0" tIns="0" rIns="0" bIns="0" rtlCol="0" anchor="t">
            <a:normAutofit/>
          </a:bodyPr>
          <a:lstStyle/>
          <a:p>
            <a:pPr marL="0" indent="0" algn="l">
              <a:lnSpc>
                <a:spcPct val="114726"/>
              </a:lnSpc>
              <a:buNone/>
            </a:pPr>
            <a:r>
              <a:rPr lang="en-US" sz="2400" dirty="0">
                <a:solidFill>
                  <a:srgbClr val="1C2A2E"/>
                </a:solidFill>
                <a:latin typeface="Georgia" panose="02040502050405020303" pitchFamily="18" charset="0"/>
                <a:ea typeface="Arial" pitchFamily="34" charset="-122"/>
                <a:cs typeface="Arial" pitchFamily="34" charset="-120"/>
              </a:rPr>
              <a:t>Exhaustion from masking or sustained effort</a:t>
            </a:r>
            <a:endParaRPr lang="en-US" sz="2400" dirty="0">
              <a:latin typeface="Georgia" panose="02040502050405020303" pitchFamily="18" charset="0"/>
            </a:endParaRPr>
          </a:p>
        </p:txBody>
      </p:sp>
      <p:sp>
        <p:nvSpPr>
          <p:cNvPr id="19" name="Shape 17"/>
          <p:cNvSpPr/>
          <p:nvPr/>
        </p:nvSpPr>
        <p:spPr>
          <a:xfrm>
            <a:off x="1143000" y="6053719"/>
            <a:ext cx="104721" cy="104721"/>
          </a:xfrm>
          <a:prstGeom prst="rect">
            <a:avLst/>
          </a:prstGeom>
          <a:solidFill>
            <a:srgbClr val="1C565D"/>
          </a:solidFill>
          <a:ln/>
        </p:spPr>
        <p:txBody>
          <a:bodyPr/>
          <a:lstStyle/>
          <a:p>
            <a:endParaRPr lang="en-US">
              <a:latin typeface="Georgia" panose="02040502050405020303" pitchFamily="18" charset="0"/>
            </a:endParaRPr>
          </a:p>
        </p:txBody>
      </p:sp>
      <p:sp>
        <p:nvSpPr>
          <p:cNvPr id="20" name="Text 18"/>
          <p:cNvSpPr/>
          <p:nvPr/>
        </p:nvSpPr>
        <p:spPr>
          <a:xfrm>
            <a:off x="1466836" y="5912603"/>
            <a:ext cx="6863135" cy="397452"/>
          </a:xfrm>
          <a:prstGeom prst="rect">
            <a:avLst/>
          </a:prstGeom>
          <a:noFill/>
          <a:ln/>
        </p:spPr>
        <p:txBody>
          <a:bodyPr wrap="square" lIns="0" tIns="0" rIns="0" bIns="0" rtlCol="0" anchor="t">
            <a:normAutofit/>
          </a:bodyPr>
          <a:lstStyle/>
          <a:p>
            <a:pPr marL="0" indent="0" algn="l">
              <a:lnSpc>
                <a:spcPct val="114726"/>
              </a:lnSpc>
              <a:buNone/>
            </a:pPr>
            <a:r>
              <a:rPr lang="en-US" sz="2400" dirty="0">
                <a:solidFill>
                  <a:srgbClr val="1C2A2E"/>
                </a:solidFill>
                <a:latin typeface="Georgia" panose="02040502050405020303" pitchFamily="18" charset="0"/>
                <a:ea typeface="Arial" pitchFamily="34" charset="-122"/>
                <a:cs typeface="Arial" pitchFamily="34" charset="-120"/>
              </a:rPr>
              <a:t>Strong need for predictability when overloaded</a:t>
            </a:r>
            <a:endParaRPr lang="en-US" sz="2400" dirty="0">
              <a:latin typeface="Georgia" panose="02040502050405020303" pitchFamily="18" charset="0"/>
            </a:endParaRPr>
          </a:p>
        </p:txBody>
      </p:sp>
      <p:sp>
        <p:nvSpPr>
          <p:cNvPr id="21" name="Shape 19"/>
          <p:cNvSpPr/>
          <p:nvPr/>
        </p:nvSpPr>
        <p:spPr>
          <a:xfrm>
            <a:off x="9505923" y="6053719"/>
            <a:ext cx="104721" cy="104721"/>
          </a:xfrm>
          <a:prstGeom prst="rect">
            <a:avLst/>
          </a:prstGeom>
          <a:solidFill>
            <a:srgbClr val="1C565D"/>
          </a:solidFill>
          <a:ln/>
        </p:spPr>
        <p:txBody>
          <a:bodyPr/>
          <a:lstStyle/>
          <a:p>
            <a:endParaRPr lang="en-US">
              <a:latin typeface="Georgia" panose="02040502050405020303" pitchFamily="18" charset="0"/>
            </a:endParaRPr>
          </a:p>
        </p:txBody>
      </p:sp>
      <p:sp>
        <p:nvSpPr>
          <p:cNvPr id="22" name="Text 20"/>
          <p:cNvSpPr/>
          <p:nvPr/>
        </p:nvSpPr>
        <p:spPr>
          <a:xfrm>
            <a:off x="9829759" y="5912603"/>
            <a:ext cx="7096767" cy="799762"/>
          </a:xfrm>
          <a:prstGeom prst="rect">
            <a:avLst/>
          </a:prstGeom>
          <a:noFill/>
          <a:ln/>
        </p:spPr>
        <p:txBody>
          <a:bodyPr wrap="square" lIns="0" tIns="0" rIns="0" bIns="0" rtlCol="0" anchor="t">
            <a:normAutofit lnSpcReduction="10000"/>
          </a:bodyPr>
          <a:lstStyle/>
          <a:p>
            <a:pPr marL="0" indent="0" algn="l">
              <a:lnSpc>
                <a:spcPct val="114726"/>
              </a:lnSpc>
              <a:buNone/>
            </a:pPr>
            <a:r>
              <a:rPr lang="en-US" sz="2400" dirty="0">
                <a:solidFill>
                  <a:srgbClr val="1C2A2E"/>
                </a:solidFill>
                <a:latin typeface="Georgia" panose="02040502050405020303" pitchFamily="18" charset="0"/>
                <a:ea typeface="Arial" pitchFamily="34" charset="-122"/>
                <a:cs typeface="Arial" pitchFamily="34" charset="-120"/>
              </a:rPr>
              <a:t>Confusion about why something that seems easy for others feels so difficult</a:t>
            </a:r>
            <a:endParaRPr lang="en-US" sz="2400" dirty="0">
              <a:latin typeface="Georgia" panose="02040502050405020303" pitchFamily="18" charset="0"/>
            </a:endParaRPr>
          </a:p>
        </p:txBody>
      </p:sp>
      <p:sp>
        <p:nvSpPr>
          <p:cNvPr id="23" name="Shape 21"/>
          <p:cNvSpPr/>
          <p:nvPr/>
        </p:nvSpPr>
        <p:spPr>
          <a:xfrm>
            <a:off x="1143000" y="7863807"/>
            <a:ext cx="16002000" cy="1432606"/>
          </a:xfrm>
          <a:prstGeom prst="rect">
            <a:avLst/>
          </a:prstGeom>
          <a:solidFill>
            <a:srgbClr val="1C565D"/>
          </a:solidFill>
          <a:ln/>
        </p:spPr>
        <p:txBody>
          <a:bodyPr/>
          <a:lstStyle/>
          <a:p>
            <a:endParaRPr lang="en-US">
              <a:latin typeface="Georgia" panose="02040502050405020303" pitchFamily="18" charset="0"/>
            </a:endParaRPr>
          </a:p>
        </p:txBody>
      </p:sp>
      <p:sp>
        <p:nvSpPr>
          <p:cNvPr id="24" name="Text 22"/>
          <p:cNvSpPr/>
          <p:nvPr/>
        </p:nvSpPr>
        <p:spPr>
          <a:xfrm>
            <a:off x="1524000" y="8149557"/>
            <a:ext cx="15720060" cy="861106"/>
          </a:xfrm>
          <a:prstGeom prst="rect">
            <a:avLst/>
          </a:prstGeom>
          <a:noFill/>
          <a:ln/>
        </p:spPr>
        <p:txBody>
          <a:bodyPr wrap="square" lIns="25400" tIns="25400" rIns="25400" bIns="25400" rtlCol="0" anchor="t">
            <a:normAutofit lnSpcReduction="10000"/>
          </a:bodyPr>
          <a:lstStyle/>
          <a:p>
            <a:pPr marL="0" indent="0" algn="l">
              <a:lnSpc>
                <a:spcPct val="118800"/>
              </a:lnSpc>
              <a:buNone/>
            </a:pPr>
            <a:r>
              <a:rPr lang="en-US" sz="2400" dirty="0">
                <a:solidFill>
                  <a:srgbClr val="FFFFFF"/>
                </a:solidFill>
                <a:latin typeface="Georgia" panose="02040502050405020303" pitchFamily="18" charset="0"/>
                <a:ea typeface="Georgia" pitchFamily="34" charset="-122"/>
                <a:cs typeface="Georgia" pitchFamily="34" charset="-120"/>
              </a:rPr>
              <a:t>What might be happening underneath the behaviour, and what is the person trying to manage, communicate, or protect themselves from?</a:t>
            </a:r>
            <a:endParaRPr lang="en-US" sz="2400" dirty="0">
              <a:latin typeface="Georgia" panose="02040502050405020303" pitchFamily="18" charset="0"/>
            </a:endParaRPr>
          </a:p>
        </p:txBody>
      </p:sp>
      <p:sp>
        <p:nvSpPr>
          <p:cNvPr id="25" name="Text 23"/>
          <p:cNvSpPr/>
          <p:nvPr/>
        </p:nvSpPr>
        <p:spPr>
          <a:xfrm>
            <a:off x="1143000" y="9565724"/>
            <a:ext cx="8725123" cy="302202"/>
          </a:xfrm>
          <a:prstGeom prst="rect">
            <a:avLst/>
          </a:prstGeom>
          <a:noFill/>
          <a:ln/>
        </p:spPr>
        <p:txBody>
          <a:bodyPr wrap="none" lIns="25400" tIns="25400" rIns="25400" bIns="25400" rtlCol="0" anchor="t">
            <a:normAutofit lnSpcReduction="10000"/>
          </a:bodyPr>
          <a:lstStyle/>
          <a:p>
            <a:pPr marL="0" indent="0" algn="l">
              <a:buNone/>
            </a:pPr>
            <a:r>
              <a:rPr lang="en-US" sz="1800" b="1" kern="0" spc="72" dirty="0">
                <a:solidFill>
                  <a:srgbClr val="55676C"/>
                </a:solidFill>
                <a:latin typeface="Georgia" panose="02040502050405020303" pitchFamily="18" charset="0"/>
                <a:ea typeface="Arial" pitchFamily="34" charset="-122"/>
                <a:cs typeface="Arial" pitchFamily="34" charset="-120"/>
              </a:rPr>
              <a:t>Understanding Neurodivergence — In a Counselling and Family Context</a:t>
            </a:r>
            <a:endParaRPr lang="en-US" sz="1800" dirty="0">
              <a:latin typeface="Georgia" panose="02040502050405020303" pitchFamily="18" charset="0"/>
            </a:endParaRPr>
          </a:p>
        </p:txBody>
      </p:sp>
      <p:sp>
        <p:nvSpPr>
          <p:cNvPr id="26" name="Shape 24"/>
          <p:cNvSpPr/>
          <p:nvPr/>
        </p:nvSpPr>
        <p:spPr>
          <a:xfrm>
            <a:off x="16641757" y="9640612"/>
            <a:ext cx="114259" cy="114259"/>
          </a:xfrm>
          <a:prstGeom prst="rect">
            <a:avLst/>
          </a:prstGeom>
          <a:solidFill>
            <a:srgbClr val="1C565D"/>
          </a:solidFill>
          <a:ln/>
        </p:spPr>
        <p:txBody>
          <a:bodyPr/>
          <a:lstStyle/>
          <a:p>
            <a:endParaRPr lang="en-US">
              <a:latin typeface="Georgia" panose="02040502050405020303" pitchFamily="18" charset="0"/>
            </a:endParaRPr>
          </a:p>
        </p:txBody>
      </p:sp>
      <p:sp>
        <p:nvSpPr>
          <p:cNvPr id="27" name="Text 25"/>
          <p:cNvSpPr/>
          <p:nvPr/>
        </p:nvSpPr>
        <p:spPr>
          <a:xfrm>
            <a:off x="16889353" y="9570054"/>
            <a:ext cx="331846" cy="293543"/>
          </a:xfrm>
          <a:prstGeom prst="rect">
            <a:avLst/>
          </a:prstGeom>
          <a:noFill/>
          <a:ln/>
        </p:spPr>
        <p:txBody>
          <a:bodyPr wrap="none" lIns="0" tIns="0" rIns="0" bIns="0" rtlCol="0" anchor="t">
            <a:normAutofit/>
          </a:bodyPr>
          <a:lstStyle/>
          <a:p>
            <a:pPr marL="0" indent="0" algn="l">
              <a:buNone/>
            </a:pPr>
            <a:r>
              <a:rPr lang="en-US" sz="1800" b="1" kern="0" spc="72" dirty="0">
                <a:solidFill>
                  <a:srgbClr val="1C565D"/>
                </a:solidFill>
                <a:latin typeface="Georgia" panose="02040502050405020303" pitchFamily="18" charset="0"/>
                <a:ea typeface="Arial" pitchFamily="34" charset="-122"/>
                <a:cs typeface="Arial" pitchFamily="34" charset="-120"/>
              </a:rPr>
              <a:t>11</a:t>
            </a:r>
            <a:endParaRPr lang="en-US" sz="1800" dirty="0">
              <a:latin typeface="Georgia" panose="02040502050405020303"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66673" cy="10287000"/>
          </a:xfrm>
          <a:prstGeom prst="rect">
            <a:avLst/>
          </a:prstGeom>
          <a:solidFill>
            <a:srgbClr val="1C565D"/>
          </a:solidFill>
          <a:ln/>
        </p:spPr>
        <p:txBody>
          <a:bodyPr/>
          <a:lstStyle/>
          <a:p>
            <a:endParaRPr lang="en-US">
              <a:latin typeface="Georgia" panose="02040502050405020303" pitchFamily="18" charset="0"/>
            </a:endParaRPr>
          </a:p>
        </p:txBody>
      </p:sp>
      <p:sp>
        <p:nvSpPr>
          <p:cNvPr id="3" name="Shape 1"/>
          <p:cNvSpPr/>
          <p:nvPr/>
        </p:nvSpPr>
        <p:spPr>
          <a:xfrm>
            <a:off x="0" y="0"/>
            <a:ext cx="266673" cy="3394702"/>
          </a:xfrm>
          <a:prstGeom prst="rect">
            <a:avLst/>
          </a:prstGeom>
          <a:solidFill>
            <a:srgbClr val="528B8E"/>
          </a:solidFill>
          <a:ln/>
        </p:spPr>
        <p:txBody>
          <a:bodyPr/>
          <a:lstStyle/>
          <a:p>
            <a:endParaRPr lang="en-US">
              <a:latin typeface="Georgia" panose="02040502050405020303" pitchFamily="18" charset="0"/>
            </a:endParaRPr>
          </a:p>
        </p:txBody>
      </p:sp>
      <p:sp>
        <p:nvSpPr>
          <p:cNvPr id="4" name="Shape 2"/>
          <p:cNvSpPr/>
          <p:nvPr/>
        </p:nvSpPr>
        <p:spPr>
          <a:xfrm>
            <a:off x="1143000" y="994037"/>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5" name="Text 3"/>
          <p:cNvSpPr/>
          <p:nvPr/>
        </p:nvSpPr>
        <p:spPr>
          <a:xfrm>
            <a:off x="1847769" y="880589"/>
            <a:ext cx="3722023" cy="293543"/>
          </a:xfrm>
          <a:prstGeom prst="rect">
            <a:avLst/>
          </a:prstGeom>
          <a:noFill/>
          <a:ln/>
        </p:spPr>
        <p:txBody>
          <a:bodyPr wrap="square" lIns="0" tIns="0" rIns="0" bIns="0" rtlCol="0" anchor="t">
            <a:normAutofit fontScale="85000" lnSpcReduction="100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FAMILY-BASED SUPPORT</a:t>
            </a:r>
            <a:endParaRPr lang="en-US" sz="1800" dirty="0">
              <a:latin typeface="Georgia" panose="02040502050405020303" pitchFamily="18" charset="0"/>
            </a:endParaRPr>
          </a:p>
        </p:txBody>
      </p:sp>
      <p:sp>
        <p:nvSpPr>
          <p:cNvPr id="6" name="Text 4"/>
          <p:cNvSpPr/>
          <p:nvPr/>
        </p:nvSpPr>
        <p:spPr>
          <a:xfrm>
            <a:off x="1143000" y="1387958"/>
            <a:ext cx="16554450" cy="646131"/>
          </a:xfrm>
          <a:prstGeom prst="rect">
            <a:avLst/>
          </a:prstGeom>
          <a:noFill/>
          <a:ln/>
        </p:spPr>
        <p:txBody>
          <a:bodyPr wrap="square" lIns="25400" tIns="25400" rIns="25400" bIns="25400" rtlCol="0" anchor="t">
            <a:normAutofit lnSpcReduction="10000"/>
          </a:bodyPr>
          <a:lstStyle/>
          <a:p>
            <a:pPr marL="0" indent="0" algn="l">
              <a:lnSpc>
                <a:spcPct val="100320"/>
              </a:lnSpc>
              <a:buNone/>
            </a:pPr>
            <a:r>
              <a:rPr lang="en-US" sz="4200" kern="0" spc="-34" dirty="0">
                <a:solidFill>
                  <a:srgbClr val="1C2A2E"/>
                </a:solidFill>
                <a:latin typeface="Georgia" panose="02040502050405020303" pitchFamily="18" charset="0"/>
                <a:ea typeface="Georgia" pitchFamily="34" charset="-122"/>
                <a:cs typeface="Georgia" pitchFamily="34" charset="-120"/>
              </a:rPr>
              <a:t>Why an EFFT Lens Matters in Family-Based Support</a:t>
            </a:r>
            <a:endParaRPr lang="en-US" sz="4200" dirty="0">
              <a:latin typeface="Georgia" panose="02040502050405020303" pitchFamily="18" charset="0"/>
            </a:endParaRPr>
          </a:p>
        </p:txBody>
      </p:sp>
      <p:sp>
        <p:nvSpPr>
          <p:cNvPr id="17" name="Shape 15"/>
          <p:cNvSpPr/>
          <p:nvPr/>
        </p:nvSpPr>
        <p:spPr>
          <a:xfrm>
            <a:off x="1142999" y="7863807"/>
            <a:ext cx="16441097" cy="1432606"/>
          </a:xfrm>
          <a:prstGeom prst="rect">
            <a:avLst/>
          </a:prstGeom>
          <a:solidFill>
            <a:srgbClr val="1C565D"/>
          </a:solidFill>
          <a:ln/>
        </p:spPr>
        <p:txBody>
          <a:bodyPr/>
          <a:lstStyle/>
          <a:p>
            <a:endParaRPr lang="en-US">
              <a:latin typeface="Georgia" panose="02040502050405020303" pitchFamily="18" charset="0"/>
            </a:endParaRPr>
          </a:p>
        </p:txBody>
      </p:sp>
      <p:sp>
        <p:nvSpPr>
          <p:cNvPr id="18" name="Text 16"/>
          <p:cNvSpPr/>
          <p:nvPr/>
        </p:nvSpPr>
        <p:spPr>
          <a:xfrm>
            <a:off x="1524000" y="8149557"/>
            <a:ext cx="15720060" cy="861106"/>
          </a:xfrm>
          <a:prstGeom prst="rect">
            <a:avLst/>
          </a:prstGeom>
          <a:noFill/>
          <a:ln/>
        </p:spPr>
        <p:txBody>
          <a:bodyPr wrap="square" lIns="25400" tIns="25400" rIns="25400" bIns="25400" rtlCol="0" anchor="t">
            <a:normAutofit lnSpcReduction="10000"/>
          </a:bodyPr>
          <a:lstStyle/>
          <a:p>
            <a:pPr marL="0" indent="0" algn="l">
              <a:lnSpc>
                <a:spcPct val="118800"/>
              </a:lnSpc>
              <a:buNone/>
            </a:pPr>
            <a:r>
              <a:rPr lang="en-US" sz="2400" dirty="0">
                <a:solidFill>
                  <a:srgbClr val="FFFFFF"/>
                </a:solidFill>
                <a:latin typeface="Georgia" panose="02040502050405020303" pitchFamily="18" charset="0"/>
                <a:ea typeface="Georgia" pitchFamily="34" charset="-122"/>
                <a:cs typeface="Georgia" pitchFamily="34" charset="-120"/>
              </a:rPr>
              <a:t>When the people around someone understand their wiring, they are better able to respond in ways that support both connection and growth.</a:t>
            </a:r>
            <a:endParaRPr lang="en-US" sz="2400" dirty="0">
              <a:latin typeface="Georgia" panose="02040502050405020303" pitchFamily="18" charset="0"/>
            </a:endParaRPr>
          </a:p>
        </p:txBody>
      </p:sp>
      <p:sp>
        <p:nvSpPr>
          <p:cNvPr id="19" name="Text 17"/>
          <p:cNvSpPr/>
          <p:nvPr/>
        </p:nvSpPr>
        <p:spPr>
          <a:xfrm>
            <a:off x="1143000" y="9565724"/>
            <a:ext cx="8725123" cy="302202"/>
          </a:xfrm>
          <a:prstGeom prst="rect">
            <a:avLst/>
          </a:prstGeom>
          <a:noFill/>
          <a:ln/>
        </p:spPr>
        <p:txBody>
          <a:bodyPr wrap="none" lIns="25400" tIns="25400" rIns="25400" bIns="25400" rtlCol="0" anchor="t">
            <a:normAutofit lnSpcReduction="10000"/>
          </a:bodyPr>
          <a:lstStyle/>
          <a:p>
            <a:pPr marL="0" indent="0" algn="l">
              <a:buNone/>
            </a:pPr>
            <a:r>
              <a:rPr lang="en-US" sz="1800" b="1" kern="0" spc="72" dirty="0">
                <a:solidFill>
                  <a:srgbClr val="55676C"/>
                </a:solidFill>
                <a:latin typeface="Georgia" panose="02040502050405020303" pitchFamily="18" charset="0"/>
                <a:ea typeface="Arial" pitchFamily="34" charset="-122"/>
                <a:cs typeface="Arial" pitchFamily="34" charset="-120"/>
              </a:rPr>
              <a:t>Understanding Neurodivergence — In a Counselling and Family Context</a:t>
            </a:r>
            <a:endParaRPr lang="en-US" sz="1800" dirty="0">
              <a:latin typeface="Georgia" panose="02040502050405020303" pitchFamily="18" charset="0"/>
            </a:endParaRPr>
          </a:p>
        </p:txBody>
      </p:sp>
      <p:sp>
        <p:nvSpPr>
          <p:cNvPr id="20" name="Shape 18"/>
          <p:cNvSpPr/>
          <p:nvPr/>
        </p:nvSpPr>
        <p:spPr>
          <a:xfrm>
            <a:off x="16624777" y="9640612"/>
            <a:ext cx="114259" cy="114259"/>
          </a:xfrm>
          <a:prstGeom prst="rect">
            <a:avLst/>
          </a:prstGeom>
          <a:solidFill>
            <a:srgbClr val="1C565D"/>
          </a:solidFill>
          <a:ln/>
        </p:spPr>
        <p:txBody>
          <a:bodyPr/>
          <a:lstStyle/>
          <a:p>
            <a:endParaRPr lang="en-US">
              <a:latin typeface="Georgia" panose="02040502050405020303" pitchFamily="18" charset="0"/>
            </a:endParaRPr>
          </a:p>
        </p:txBody>
      </p:sp>
      <p:sp>
        <p:nvSpPr>
          <p:cNvPr id="21" name="Text 19"/>
          <p:cNvSpPr/>
          <p:nvPr/>
        </p:nvSpPr>
        <p:spPr>
          <a:xfrm>
            <a:off x="16872374" y="9570054"/>
            <a:ext cx="348825" cy="293543"/>
          </a:xfrm>
          <a:prstGeom prst="rect">
            <a:avLst/>
          </a:prstGeom>
          <a:noFill/>
          <a:ln/>
        </p:spPr>
        <p:txBody>
          <a:bodyPr wrap="none" lIns="0" tIns="0" rIns="0" bIns="0" rtlCol="0" anchor="t">
            <a:normAutofit/>
          </a:bodyPr>
          <a:lstStyle/>
          <a:p>
            <a:pPr marL="0" indent="0" algn="l">
              <a:buNone/>
            </a:pPr>
            <a:r>
              <a:rPr lang="en-US" sz="1800" b="1" kern="0" spc="72" dirty="0">
                <a:solidFill>
                  <a:srgbClr val="1C565D"/>
                </a:solidFill>
                <a:latin typeface="Georgia" panose="02040502050405020303" pitchFamily="18" charset="0"/>
                <a:ea typeface="Arial" pitchFamily="34" charset="-122"/>
                <a:cs typeface="Arial" pitchFamily="34" charset="-120"/>
              </a:rPr>
              <a:t>12</a:t>
            </a:r>
            <a:endParaRPr lang="en-US" sz="1800" dirty="0">
              <a:latin typeface="Georgia" panose="02040502050405020303" pitchFamily="18" charset="0"/>
            </a:endParaRPr>
          </a:p>
        </p:txBody>
      </p:sp>
      <p:sp>
        <p:nvSpPr>
          <p:cNvPr id="22" name="Text 6">
            <a:extLst>
              <a:ext uri="{FF2B5EF4-FFF2-40B4-BE49-F238E27FC236}">
                <a16:creationId xmlns:a16="http://schemas.microsoft.com/office/drawing/2014/main" id="{811BC6BA-49D3-69BB-4C75-FAF562DB4404}"/>
              </a:ext>
            </a:extLst>
          </p:cNvPr>
          <p:cNvSpPr/>
          <p:nvPr/>
        </p:nvSpPr>
        <p:spPr>
          <a:xfrm>
            <a:off x="1247721" y="2753062"/>
            <a:ext cx="7896279" cy="4897723"/>
          </a:xfrm>
          <a:prstGeom prst="rect">
            <a:avLst/>
          </a:prstGeom>
          <a:noFill/>
          <a:ln/>
        </p:spPr>
        <p:txBody>
          <a:bodyPr wrap="square" lIns="0" tIns="0" rIns="0" bIns="0" rtlCol="0" anchor="t">
            <a:normAutofit fontScale="92500"/>
          </a:bodyPr>
          <a:lstStyle/>
          <a:p>
            <a:pPr marL="342900" indent="-342900">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Understanding the person’s neurodivergence can change how caregivers and supports interpret </a:t>
            </a:r>
            <a:r>
              <a:rPr lang="en-US" sz="2400" dirty="0" err="1">
                <a:solidFill>
                  <a:srgbClr val="1C2A2E"/>
                </a:solidFill>
                <a:latin typeface="Georgia" panose="02040502050405020303" pitchFamily="18" charset="0"/>
                <a:ea typeface="Arial" pitchFamily="34" charset="-122"/>
                <a:cs typeface="Arial" pitchFamily="34" charset="-120"/>
              </a:rPr>
              <a:t>behaviour</a:t>
            </a:r>
            <a:endParaRPr lang="en-US" sz="2400" dirty="0">
              <a:latin typeface="Georgia" panose="02040502050405020303" pitchFamily="18" charset="0"/>
            </a:endParaRPr>
          </a:p>
          <a:p>
            <a:pPr marL="342900" indent="-342900">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Caregivers and other important supports can contribute to co-regulation, emotional understanding, practical support, advocacy, reduced shame, and maintaining connection during challenge</a:t>
            </a:r>
            <a:endParaRPr lang="en-US" sz="2400" dirty="0">
              <a:latin typeface="Georgia" panose="02040502050405020303" pitchFamily="18" charset="0"/>
            </a:endParaRPr>
          </a:p>
          <a:p>
            <a:pPr marL="342900" indent="-342900">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The goal is not dependence; it is greater alignment between the person, their needs, and the people around them</a:t>
            </a:r>
            <a:endParaRPr lang="en-US" sz="2400" dirty="0">
              <a:latin typeface="Georgia" panose="02040502050405020303" pitchFamily="18" charset="0"/>
            </a:endParaRPr>
          </a:p>
          <a:p>
            <a:pPr>
              <a:lnSpc>
                <a:spcPct val="160000"/>
              </a:lnSpc>
              <a:spcAft>
                <a:spcPts val="600"/>
              </a:spcAft>
              <a:buSzPct val="115000"/>
            </a:pPr>
            <a:endParaRPr lang="en-US" sz="2400" dirty="0">
              <a:latin typeface="Georgia" panose="02040502050405020303" pitchFamily="18" charset="0"/>
            </a:endParaRPr>
          </a:p>
          <a:p>
            <a:pPr marL="342900" indent="-342900" algn="l">
              <a:lnSpc>
                <a:spcPct val="160000"/>
              </a:lnSpc>
              <a:spcAft>
                <a:spcPts val="600"/>
              </a:spcAft>
              <a:buSzPct val="115000"/>
              <a:buFont typeface="Wingdings" pitchFamily="2" charset="2"/>
              <a:buChar char="§"/>
            </a:pPr>
            <a:endParaRPr lang="en-US" sz="2400" dirty="0">
              <a:latin typeface="Georgia" panose="02040502050405020303" pitchFamily="18" charset="0"/>
            </a:endParaRPr>
          </a:p>
        </p:txBody>
      </p:sp>
      <p:sp>
        <p:nvSpPr>
          <p:cNvPr id="23" name="Text 6">
            <a:extLst>
              <a:ext uri="{FF2B5EF4-FFF2-40B4-BE49-F238E27FC236}">
                <a16:creationId xmlns:a16="http://schemas.microsoft.com/office/drawing/2014/main" id="{1E5FEC7B-2679-8C68-DECA-ADC44A8AEBE4}"/>
              </a:ext>
            </a:extLst>
          </p:cNvPr>
          <p:cNvSpPr/>
          <p:nvPr/>
        </p:nvSpPr>
        <p:spPr>
          <a:xfrm>
            <a:off x="9687818" y="2753062"/>
            <a:ext cx="7896279" cy="4897723"/>
          </a:xfrm>
          <a:prstGeom prst="rect">
            <a:avLst/>
          </a:prstGeom>
          <a:noFill/>
          <a:ln/>
        </p:spPr>
        <p:txBody>
          <a:bodyPr wrap="square" lIns="0" tIns="0" rIns="0" bIns="0" rtlCol="0" anchor="t">
            <a:normAutofit/>
          </a:bodyPr>
          <a:lstStyle/>
          <a:p>
            <a:pPr marL="342900" indent="-342900">
              <a:lnSpc>
                <a:spcPct val="160000"/>
              </a:lnSpc>
              <a:spcAft>
                <a:spcPts val="600"/>
              </a:spcAft>
              <a:buSzPct val="115000"/>
              <a:buFont typeface="Wingdings" pitchFamily="2" charset="2"/>
              <a:buChar char="§"/>
            </a:pPr>
            <a:r>
              <a:rPr lang="en-US" sz="2200" dirty="0">
                <a:solidFill>
                  <a:srgbClr val="1C2A2E"/>
                </a:solidFill>
                <a:latin typeface="Georgia" panose="02040502050405020303" pitchFamily="18" charset="0"/>
                <a:ea typeface="Arial" pitchFamily="34" charset="-122"/>
                <a:cs typeface="Arial" pitchFamily="34" charset="-120"/>
              </a:rPr>
              <a:t>EFFT helps shift the focus from blame or correction toward understanding, connection, and effective support</a:t>
            </a:r>
          </a:p>
          <a:p>
            <a:pPr marL="342900" indent="-342900">
              <a:lnSpc>
                <a:spcPct val="160000"/>
              </a:lnSpc>
              <a:spcAft>
                <a:spcPts val="600"/>
              </a:spcAft>
              <a:buSzPct val="115000"/>
              <a:buFont typeface="Wingdings" pitchFamily="2" charset="2"/>
              <a:buChar char="§"/>
            </a:pPr>
            <a:r>
              <a:rPr lang="en-US" sz="2200" dirty="0">
                <a:solidFill>
                  <a:srgbClr val="1C2A2E"/>
                </a:solidFill>
                <a:latin typeface="Georgia" panose="02040502050405020303" pitchFamily="18" charset="0"/>
                <a:ea typeface="Arial" pitchFamily="34" charset="-122"/>
                <a:cs typeface="Arial" pitchFamily="34" charset="-120"/>
              </a:rPr>
              <a:t>Support can be adapted across development — more parent-led in childhood and increasingly collaborative in adolescence, young adulthood, and adulthood</a:t>
            </a:r>
            <a:endParaRPr lang="en-US" sz="2200" dirty="0">
              <a:latin typeface="Georgia" panose="02040502050405020303" pitchFamily="18" charset="0"/>
            </a:endParaRPr>
          </a:p>
          <a:p>
            <a:pPr algn="l">
              <a:lnSpc>
                <a:spcPct val="160000"/>
              </a:lnSpc>
              <a:spcAft>
                <a:spcPts val="600"/>
              </a:spcAft>
              <a:buSzPct val="115000"/>
            </a:pPr>
            <a:endParaRPr lang="en-US" sz="2200" dirty="0">
              <a:latin typeface="Georgia" panose="020405020504050203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2" grpId="0" build="p" animBg="1"/>
      <p:bldP spid="23"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66673" cy="10287000"/>
          </a:xfrm>
          <a:prstGeom prst="rect">
            <a:avLst/>
          </a:prstGeom>
          <a:solidFill>
            <a:srgbClr val="1C565D"/>
          </a:solidFill>
          <a:ln/>
        </p:spPr>
        <p:txBody>
          <a:bodyPr/>
          <a:lstStyle/>
          <a:p>
            <a:endParaRPr lang="en-US">
              <a:latin typeface="Georgia" panose="02040502050405020303" pitchFamily="18" charset="0"/>
            </a:endParaRPr>
          </a:p>
        </p:txBody>
      </p:sp>
      <p:sp>
        <p:nvSpPr>
          <p:cNvPr id="3" name="Shape 1"/>
          <p:cNvSpPr/>
          <p:nvPr/>
        </p:nvSpPr>
        <p:spPr>
          <a:xfrm>
            <a:off x="0" y="0"/>
            <a:ext cx="266673" cy="3394702"/>
          </a:xfrm>
          <a:prstGeom prst="rect">
            <a:avLst/>
          </a:prstGeom>
          <a:solidFill>
            <a:srgbClr val="528B8E"/>
          </a:solidFill>
          <a:ln/>
        </p:spPr>
        <p:txBody>
          <a:bodyPr/>
          <a:lstStyle/>
          <a:p>
            <a:endParaRPr lang="en-US">
              <a:latin typeface="Georgia" panose="02040502050405020303" pitchFamily="18" charset="0"/>
            </a:endParaRPr>
          </a:p>
        </p:txBody>
      </p:sp>
      <p:sp>
        <p:nvSpPr>
          <p:cNvPr id="4" name="Shape 2"/>
          <p:cNvSpPr/>
          <p:nvPr/>
        </p:nvSpPr>
        <p:spPr>
          <a:xfrm>
            <a:off x="1143000" y="994037"/>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5" name="Text 3"/>
          <p:cNvSpPr/>
          <p:nvPr/>
        </p:nvSpPr>
        <p:spPr>
          <a:xfrm>
            <a:off x="1847769" y="880589"/>
            <a:ext cx="1961244" cy="293543"/>
          </a:xfrm>
          <a:prstGeom prst="rect">
            <a:avLst/>
          </a:prstGeom>
          <a:noFill/>
          <a:ln/>
        </p:spPr>
        <p:txBody>
          <a:bodyPr wrap="square" lIns="0" tIns="0" rIns="0" bIns="0" rtlCol="0" anchor="t">
            <a:normAutofit fontScale="85000" lnSpcReduction="100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COMPLEXITY</a:t>
            </a:r>
            <a:endParaRPr lang="en-US" sz="1800" dirty="0">
              <a:latin typeface="Georgia" panose="02040502050405020303" pitchFamily="18" charset="0"/>
            </a:endParaRPr>
          </a:p>
        </p:txBody>
      </p:sp>
      <p:sp>
        <p:nvSpPr>
          <p:cNvPr id="6" name="Text 4"/>
          <p:cNvSpPr/>
          <p:nvPr/>
        </p:nvSpPr>
        <p:spPr>
          <a:xfrm>
            <a:off x="1143000" y="1387958"/>
            <a:ext cx="16554450" cy="646131"/>
          </a:xfrm>
          <a:prstGeom prst="rect">
            <a:avLst/>
          </a:prstGeom>
          <a:noFill/>
          <a:ln/>
        </p:spPr>
        <p:txBody>
          <a:bodyPr wrap="square" lIns="25400" tIns="25400" rIns="25400" bIns="25400" rtlCol="0" anchor="t">
            <a:normAutofit lnSpcReduction="10000"/>
          </a:bodyPr>
          <a:lstStyle/>
          <a:p>
            <a:pPr marL="0" indent="0" algn="l">
              <a:lnSpc>
                <a:spcPct val="100320"/>
              </a:lnSpc>
              <a:buNone/>
            </a:pPr>
            <a:r>
              <a:rPr lang="en-US" sz="4200" kern="0" spc="-34" dirty="0">
                <a:solidFill>
                  <a:srgbClr val="1C2A2E"/>
                </a:solidFill>
                <a:latin typeface="Georgia" panose="02040502050405020303" pitchFamily="18" charset="0"/>
                <a:ea typeface="Georgia" pitchFamily="34" charset="-122"/>
                <a:cs typeface="Georgia" pitchFamily="34" charset="-120"/>
              </a:rPr>
              <a:t>Comorbidity, Masking, and the Cost of Compensation</a:t>
            </a:r>
            <a:endParaRPr lang="en-US" sz="4200" dirty="0">
              <a:latin typeface="Georgia" panose="02040502050405020303" pitchFamily="18" charset="0"/>
            </a:endParaRPr>
          </a:p>
        </p:txBody>
      </p:sp>
      <p:sp>
        <p:nvSpPr>
          <p:cNvPr id="8" name="Text 6"/>
          <p:cNvSpPr/>
          <p:nvPr/>
        </p:nvSpPr>
        <p:spPr>
          <a:xfrm>
            <a:off x="1383030" y="2592745"/>
            <a:ext cx="16001999" cy="4822615"/>
          </a:xfrm>
          <a:prstGeom prst="rect">
            <a:avLst/>
          </a:prstGeom>
          <a:noFill/>
          <a:ln/>
        </p:spPr>
        <p:txBody>
          <a:bodyPr wrap="square" lIns="0" tIns="0" rIns="0" bIns="0" rtlCol="0" anchor="t">
            <a:normAutofit/>
          </a:bodyPr>
          <a:lstStyle/>
          <a:p>
            <a:pPr marL="342900" indent="-342900" algn="l">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Neurodivergence may coexist with anxiety, depression, OCD, eating disorders, trauma-related symptoms, or burnout</a:t>
            </a:r>
          </a:p>
          <a:p>
            <a:pPr marL="342900" indent="-342900">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Strong abilities may allow a person to compensate for difficulties for a long time</a:t>
            </a:r>
          </a:p>
          <a:p>
            <a:pPr marL="342900" indent="-342900">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Masking — hiding, suppressing, or compensating for neurodivergent traits in order to fit expectations or appear more typical</a:t>
            </a:r>
          </a:p>
          <a:p>
            <a:pPr marL="342900" indent="-342900">
              <a:lnSpc>
                <a:spcPct val="16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The internal cost may show up as exhaustion, irritability, shutdown, withdrawal, reduced functioning, or burnout</a:t>
            </a:r>
            <a:endParaRPr lang="en-US" sz="2400" dirty="0">
              <a:latin typeface="Georgia" panose="02040502050405020303" pitchFamily="18" charset="0"/>
            </a:endParaRPr>
          </a:p>
        </p:txBody>
      </p:sp>
      <p:sp>
        <p:nvSpPr>
          <p:cNvPr id="15" name="Shape 13"/>
          <p:cNvSpPr/>
          <p:nvPr/>
        </p:nvSpPr>
        <p:spPr>
          <a:xfrm>
            <a:off x="1143000" y="8275317"/>
            <a:ext cx="16002000" cy="1021096"/>
          </a:xfrm>
          <a:prstGeom prst="rect">
            <a:avLst/>
          </a:prstGeom>
          <a:solidFill>
            <a:srgbClr val="1C565D"/>
          </a:solidFill>
          <a:ln/>
        </p:spPr>
        <p:txBody>
          <a:bodyPr/>
          <a:lstStyle/>
          <a:p>
            <a:endParaRPr lang="en-US">
              <a:latin typeface="Georgia" panose="02040502050405020303" pitchFamily="18" charset="0"/>
            </a:endParaRPr>
          </a:p>
        </p:txBody>
      </p:sp>
      <p:sp>
        <p:nvSpPr>
          <p:cNvPr id="16" name="Text 14"/>
          <p:cNvSpPr/>
          <p:nvPr/>
        </p:nvSpPr>
        <p:spPr>
          <a:xfrm>
            <a:off x="1524000" y="8561067"/>
            <a:ext cx="15720060" cy="449596"/>
          </a:xfrm>
          <a:prstGeom prst="rect">
            <a:avLst/>
          </a:prstGeom>
          <a:noFill/>
          <a:ln/>
        </p:spPr>
        <p:txBody>
          <a:bodyPr wrap="square" lIns="25400" tIns="25400" rIns="25400" bIns="25400" rtlCol="0" anchor="t">
            <a:normAutofit/>
          </a:bodyPr>
          <a:lstStyle/>
          <a:p>
            <a:pPr marL="0" indent="0" algn="l">
              <a:lnSpc>
                <a:spcPct val="118800"/>
              </a:lnSpc>
              <a:buNone/>
            </a:pPr>
            <a:r>
              <a:rPr lang="en-US" sz="2400" dirty="0">
                <a:solidFill>
                  <a:srgbClr val="FFFFFF"/>
                </a:solidFill>
                <a:latin typeface="Georgia" panose="02040502050405020303" pitchFamily="18" charset="0"/>
                <a:ea typeface="Georgia" pitchFamily="34" charset="-122"/>
                <a:cs typeface="Georgia" pitchFamily="34" charset="-120"/>
              </a:rPr>
              <a:t>Appearing to cope well does not necessarily mean the person is doing well.</a:t>
            </a:r>
            <a:endParaRPr lang="en-US" sz="2400" dirty="0">
              <a:latin typeface="Georgia" panose="02040502050405020303" pitchFamily="18" charset="0"/>
            </a:endParaRPr>
          </a:p>
        </p:txBody>
      </p:sp>
      <p:sp>
        <p:nvSpPr>
          <p:cNvPr id="17" name="Text 15"/>
          <p:cNvSpPr/>
          <p:nvPr/>
        </p:nvSpPr>
        <p:spPr>
          <a:xfrm>
            <a:off x="1143000" y="9565724"/>
            <a:ext cx="8725123" cy="302202"/>
          </a:xfrm>
          <a:prstGeom prst="rect">
            <a:avLst/>
          </a:prstGeom>
          <a:noFill/>
          <a:ln/>
        </p:spPr>
        <p:txBody>
          <a:bodyPr wrap="none" lIns="25400" tIns="25400" rIns="25400" bIns="25400" rtlCol="0" anchor="t">
            <a:normAutofit lnSpcReduction="10000"/>
          </a:bodyPr>
          <a:lstStyle/>
          <a:p>
            <a:pPr marL="0" indent="0" algn="l">
              <a:buNone/>
            </a:pPr>
            <a:r>
              <a:rPr lang="en-US" sz="1800" b="1" kern="0" spc="72" dirty="0">
                <a:solidFill>
                  <a:srgbClr val="55676C"/>
                </a:solidFill>
                <a:latin typeface="Georgia" panose="02040502050405020303" pitchFamily="18" charset="0"/>
                <a:ea typeface="Arial" pitchFamily="34" charset="-122"/>
                <a:cs typeface="Arial" pitchFamily="34" charset="-120"/>
              </a:rPr>
              <a:t>Understanding Neurodivergence — In a Counselling and Family Context</a:t>
            </a:r>
            <a:endParaRPr lang="en-US" sz="1800" dirty="0">
              <a:latin typeface="Georgia" panose="02040502050405020303" pitchFamily="18" charset="0"/>
            </a:endParaRPr>
          </a:p>
        </p:txBody>
      </p:sp>
      <p:sp>
        <p:nvSpPr>
          <p:cNvPr id="18" name="Shape 16"/>
          <p:cNvSpPr/>
          <p:nvPr/>
        </p:nvSpPr>
        <p:spPr>
          <a:xfrm>
            <a:off x="16624777" y="9640612"/>
            <a:ext cx="114259" cy="114259"/>
          </a:xfrm>
          <a:prstGeom prst="rect">
            <a:avLst/>
          </a:prstGeom>
          <a:solidFill>
            <a:srgbClr val="1C565D"/>
          </a:solidFill>
          <a:ln/>
        </p:spPr>
        <p:txBody>
          <a:bodyPr/>
          <a:lstStyle/>
          <a:p>
            <a:endParaRPr lang="en-US">
              <a:latin typeface="Georgia" panose="02040502050405020303" pitchFamily="18" charset="0"/>
            </a:endParaRPr>
          </a:p>
        </p:txBody>
      </p:sp>
      <p:sp>
        <p:nvSpPr>
          <p:cNvPr id="19" name="Text 17"/>
          <p:cNvSpPr/>
          <p:nvPr/>
        </p:nvSpPr>
        <p:spPr>
          <a:xfrm>
            <a:off x="16872374" y="9570054"/>
            <a:ext cx="348825" cy="293543"/>
          </a:xfrm>
          <a:prstGeom prst="rect">
            <a:avLst/>
          </a:prstGeom>
          <a:noFill/>
          <a:ln/>
        </p:spPr>
        <p:txBody>
          <a:bodyPr wrap="none" lIns="0" tIns="0" rIns="0" bIns="0" rtlCol="0" anchor="t">
            <a:normAutofit/>
          </a:bodyPr>
          <a:lstStyle/>
          <a:p>
            <a:pPr marL="0" indent="0" algn="l">
              <a:buNone/>
            </a:pPr>
            <a:r>
              <a:rPr lang="en-US" sz="1800" b="1" kern="0" spc="72" dirty="0">
                <a:solidFill>
                  <a:srgbClr val="1C565D"/>
                </a:solidFill>
                <a:latin typeface="Georgia" panose="02040502050405020303" pitchFamily="18" charset="0"/>
                <a:ea typeface="Arial" pitchFamily="34" charset="-122"/>
                <a:cs typeface="Arial" pitchFamily="34" charset="-120"/>
              </a:rPr>
              <a:t>13</a:t>
            </a:r>
            <a:endParaRPr lang="en-US" sz="1800" dirty="0">
              <a:latin typeface="Georgia" panose="020405020504050203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bldP spid="15" grpId="0" animBg="1"/>
      <p:bldP spid="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266673" cy="10287000"/>
          </a:xfrm>
          <a:prstGeom prst="rect">
            <a:avLst/>
          </a:prstGeom>
          <a:solidFill>
            <a:srgbClr val="1C565D"/>
          </a:solidFill>
          <a:ln/>
        </p:spPr>
        <p:txBody>
          <a:bodyPr/>
          <a:lstStyle/>
          <a:p>
            <a:endParaRPr lang="en-US">
              <a:latin typeface="Georgia" panose="02040502050405020303" pitchFamily="18" charset="0"/>
            </a:endParaRPr>
          </a:p>
        </p:txBody>
      </p:sp>
      <p:sp>
        <p:nvSpPr>
          <p:cNvPr id="3" name="Shape 1"/>
          <p:cNvSpPr/>
          <p:nvPr/>
        </p:nvSpPr>
        <p:spPr>
          <a:xfrm>
            <a:off x="0" y="0"/>
            <a:ext cx="266673" cy="3394702"/>
          </a:xfrm>
          <a:prstGeom prst="rect">
            <a:avLst/>
          </a:prstGeom>
          <a:solidFill>
            <a:srgbClr val="528B8E"/>
          </a:solidFill>
          <a:ln/>
        </p:spPr>
        <p:txBody>
          <a:bodyPr/>
          <a:lstStyle/>
          <a:p>
            <a:endParaRPr lang="en-US">
              <a:latin typeface="Georgia" panose="02040502050405020303" pitchFamily="18" charset="0"/>
            </a:endParaRPr>
          </a:p>
        </p:txBody>
      </p:sp>
      <p:sp>
        <p:nvSpPr>
          <p:cNvPr id="4" name="Shape 2"/>
          <p:cNvSpPr/>
          <p:nvPr/>
        </p:nvSpPr>
        <p:spPr>
          <a:xfrm>
            <a:off x="1143000" y="994037"/>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5" name="Text 3"/>
          <p:cNvSpPr/>
          <p:nvPr/>
        </p:nvSpPr>
        <p:spPr>
          <a:xfrm>
            <a:off x="1847769" y="880589"/>
            <a:ext cx="3145154" cy="293543"/>
          </a:xfrm>
          <a:prstGeom prst="rect">
            <a:avLst/>
          </a:prstGeom>
          <a:noFill/>
          <a:ln/>
        </p:spPr>
        <p:txBody>
          <a:bodyPr wrap="square" lIns="0" tIns="0" rIns="0" bIns="0" rtlCol="0" anchor="t">
            <a:normAutofit fontScale="85000" lnSpcReduction="100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CLINICAL JUDGMENT</a:t>
            </a:r>
            <a:endParaRPr lang="en-US" sz="1800" dirty="0">
              <a:latin typeface="Georgia" panose="02040502050405020303" pitchFamily="18" charset="0"/>
            </a:endParaRPr>
          </a:p>
        </p:txBody>
      </p:sp>
      <p:sp>
        <p:nvSpPr>
          <p:cNvPr id="6" name="Text 4"/>
          <p:cNvSpPr/>
          <p:nvPr/>
        </p:nvSpPr>
        <p:spPr>
          <a:xfrm>
            <a:off x="1143000" y="1387958"/>
            <a:ext cx="16554450" cy="646131"/>
          </a:xfrm>
          <a:prstGeom prst="rect">
            <a:avLst/>
          </a:prstGeom>
          <a:noFill/>
          <a:ln/>
        </p:spPr>
        <p:txBody>
          <a:bodyPr wrap="square" lIns="25400" tIns="25400" rIns="25400" bIns="25400" rtlCol="0" anchor="t">
            <a:normAutofit lnSpcReduction="10000"/>
          </a:bodyPr>
          <a:lstStyle/>
          <a:p>
            <a:pPr marL="0" indent="0" algn="l">
              <a:lnSpc>
                <a:spcPct val="100320"/>
              </a:lnSpc>
              <a:buNone/>
            </a:pPr>
            <a:r>
              <a:rPr lang="en-US" sz="4200" kern="0" spc="-34" dirty="0">
                <a:solidFill>
                  <a:srgbClr val="1C2A2E"/>
                </a:solidFill>
                <a:latin typeface="Georgia" panose="02040502050405020303" pitchFamily="18" charset="0"/>
                <a:ea typeface="Georgia" pitchFamily="34" charset="-122"/>
                <a:cs typeface="Georgia" pitchFamily="34" charset="-120"/>
              </a:rPr>
              <a:t>What Should Make Us Pause and Look Again?</a:t>
            </a:r>
            <a:endParaRPr lang="en-US" sz="4200" dirty="0">
              <a:latin typeface="Georgia" panose="02040502050405020303" pitchFamily="18" charset="0"/>
            </a:endParaRPr>
          </a:p>
        </p:txBody>
      </p:sp>
      <p:sp>
        <p:nvSpPr>
          <p:cNvPr id="8" name="Text 6"/>
          <p:cNvSpPr/>
          <p:nvPr/>
        </p:nvSpPr>
        <p:spPr>
          <a:xfrm>
            <a:off x="854885" y="2690111"/>
            <a:ext cx="8289115" cy="5131552"/>
          </a:xfrm>
          <a:prstGeom prst="rect">
            <a:avLst/>
          </a:prstGeom>
          <a:noFill/>
          <a:ln/>
        </p:spPr>
        <p:txBody>
          <a:bodyPr wrap="square" lIns="0" tIns="0" rIns="0" bIns="0" rtlCol="0" anchor="t">
            <a:normAutofit/>
          </a:bodyPr>
          <a:lstStyle/>
          <a:p>
            <a:pPr marL="342900" indent="-342900" algn="l">
              <a:lnSpc>
                <a:spcPct val="170000"/>
              </a:lnSpc>
              <a:spcAft>
                <a:spcPts val="600"/>
              </a:spcAft>
              <a:buSzPct val="115000"/>
              <a:buFont typeface="Wingdings" pitchFamily="2" charset="2"/>
              <a:buChar char="§"/>
            </a:pPr>
            <a:r>
              <a:rPr lang="en-US" sz="2400" dirty="0">
                <a:solidFill>
                  <a:srgbClr val="1C2A2E"/>
                </a:solidFill>
                <a:latin typeface="Georgia" panose="02040502050405020303" pitchFamily="18" charset="0"/>
                <a:cs typeface="Arial" pitchFamily="34" charset="-120"/>
              </a:rPr>
              <a:t>The presentation does not quite fit the usual explanation</a:t>
            </a:r>
          </a:p>
          <a:p>
            <a:pPr marL="342900" indent="-342900">
              <a:lnSpc>
                <a:spcPct val="17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Strengths and </a:t>
            </a:r>
            <a:r>
              <a:rPr lang="en-US" sz="2400" dirty="0">
                <a:solidFill>
                  <a:srgbClr val="1C2A2E"/>
                </a:solidFill>
                <a:latin typeface="Georgia" panose="02040502050405020303" pitchFamily="18" charset="0"/>
                <a:cs typeface="Arial" pitchFamily="34" charset="-120"/>
              </a:rPr>
              <a:t>vulnerabilities</a:t>
            </a:r>
            <a:r>
              <a:rPr lang="en-US" sz="2400" dirty="0">
                <a:solidFill>
                  <a:srgbClr val="1C2A2E"/>
                </a:solidFill>
                <a:latin typeface="Georgia" panose="02040502050405020303" pitchFamily="18" charset="0"/>
                <a:ea typeface="Arial" pitchFamily="34" charset="-122"/>
                <a:cs typeface="Arial" pitchFamily="34" charset="-120"/>
              </a:rPr>
              <a:t> seem unusually uneven</a:t>
            </a:r>
          </a:p>
          <a:p>
            <a:pPr marL="342900" indent="-342900">
              <a:lnSpc>
                <a:spcPct val="17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Reactions to demand, uncertainty, sensory input, or transitions seem disproportionate to what others expect</a:t>
            </a:r>
            <a:endParaRPr lang="en-US" sz="2400" dirty="0">
              <a:latin typeface="Georgia" panose="02040502050405020303" pitchFamily="18" charset="0"/>
            </a:endParaRPr>
          </a:p>
          <a:p>
            <a:pPr marL="342900" indent="-342900">
              <a:lnSpc>
                <a:spcPct val="170000"/>
              </a:lnSpc>
              <a:spcAft>
                <a:spcPts val="600"/>
              </a:spcAft>
              <a:buSzPct val="115000"/>
              <a:buFont typeface="Wingdings" pitchFamily="2" charset="2"/>
              <a:buChar char="§"/>
            </a:pPr>
            <a:r>
              <a:rPr lang="en-US" sz="2400" dirty="0">
                <a:solidFill>
                  <a:srgbClr val="1C2A2E"/>
                </a:solidFill>
                <a:latin typeface="Georgia" panose="02040502050405020303" pitchFamily="18" charset="0"/>
                <a:ea typeface="Arial" pitchFamily="34" charset="-122"/>
                <a:cs typeface="Arial" pitchFamily="34" charset="-120"/>
              </a:rPr>
              <a:t>Family members or partners repeatedly misunderstand intent</a:t>
            </a:r>
            <a:endParaRPr lang="en-US" sz="2400" dirty="0">
              <a:latin typeface="Georgia" panose="02040502050405020303" pitchFamily="18" charset="0"/>
            </a:endParaRPr>
          </a:p>
        </p:txBody>
      </p:sp>
      <p:sp>
        <p:nvSpPr>
          <p:cNvPr id="10" name="Text 8"/>
          <p:cNvSpPr/>
          <p:nvPr/>
        </p:nvSpPr>
        <p:spPr>
          <a:xfrm>
            <a:off x="9408335" y="2690111"/>
            <a:ext cx="7867692" cy="4700094"/>
          </a:xfrm>
          <a:prstGeom prst="rect">
            <a:avLst/>
          </a:prstGeom>
          <a:noFill/>
          <a:ln/>
        </p:spPr>
        <p:txBody>
          <a:bodyPr wrap="square" lIns="0" tIns="0" rIns="0" bIns="0" rtlCol="0" anchor="t">
            <a:normAutofit/>
          </a:bodyPr>
          <a:lstStyle/>
          <a:p>
            <a:pPr marL="342900" indent="-342900">
              <a:lnSpc>
                <a:spcPct val="170000"/>
              </a:lnSpc>
              <a:spcAft>
                <a:spcPts val="600"/>
              </a:spcAft>
              <a:buSzPct val="115000"/>
              <a:buFont typeface="Wingdings" pitchFamily="2" charset="2"/>
              <a:buChar char="§"/>
            </a:pPr>
            <a:r>
              <a:rPr lang="en-US" sz="2400" dirty="0">
                <a:solidFill>
                  <a:srgbClr val="1C2A2E"/>
                </a:solidFill>
                <a:latin typeface="Georgia" panose="02040502050405020303" pitchFamily="18" charset="0"/>
                <a:cs typeface="Arial" pitchFamily="34" charset="-120"/>
              </a:rPr>
              <a:t>Capacity is highly inconsistent</a:t>
            </a:r>
          </a:p>
          <a:p>
            <a:pPr marL="342900" indent="-342900">
              <a:lnSpc>
                <a:spcPct val="170000"/>
              </a:lnSpc>
              <a:spcAft>
                <a:spcPts val="600"/>
              </a:spcAft>
              <a:buSzPct val="115000"/>
              <a:buFont typeface="Wingdings" pitchFamily="2" charset="2"/>
              <a:buChar char="§"/>
            </a:pPr>
            <a:r>
              <a:rPr lang="en-US" sz="2400" dirty="0">
                <a:solidFill>
                  <a:srgbClr val="1C2A2E"/>
                </a:solidFill>
                <a:latin typeface="Georgia" panose="02040502050405020303" pitchFamily="18" charset="0"/>
                <a:cs typeface="Arial" pitchFamily="34" charset="-120"/>
              </a:rPr>
              <a:t>The person functions very differently across settings</a:t>
            </a:r>
          </a:p>
          <a:p>
            <a:pPr marL="342900" indent="-342900">
              <a:lnSpc>
                <a:spcPct val="170000"/>
              </a:lnSpc>
              <a:spcAft>
                <a:spcPts val="600"/>
              </a:spcAft>
              <a:buSzPct val="115000"/>
              <a:buFont typeface="Wingdings" pitchFamily="2" charset="2"/>
              <a:buChar char="§"/>
            </a:pPr>
            <a:r>
              <a:rPr lang="en-US" sz="2400" dirty="0">
                <a:solidFill>
                  <a:srgbClr val="1C2A2E"/>
                </a:solidFill>
                <a:latin typeface="Georgia" panose="02040502050405020303" pitchFamily="18" charset="0"/>
                <a:cs typeface="Arial" pitchFamily="34" charset="-120"/>
              </a:rPr>
              <a:t>There is significant masking, exhaustion, or burnout</a:t>
            </a:r>
          </a:p>
          <a:p>
            <a:pPr marL="342900" indent="-342900">
              <a:lnSpc>
                <a:spcPct val="170000"/>
              </a:lnSpc>
              <a:spcAft>
                <a:spcPts val="600"/>
              </a:spcAft>
              <a:buSzPct val="115000"/>
              <a:buFont typeface="Wingdings" pitchFamily="2" charset="2"/>
              <a:buChar char="§"/>
            </a:pPr>
            <a:r>
              <a:rPr lang="en-US" sz="2400" dirty="0">
                <a:solidFill>
                  <a:srgbClr val="1C2A2E"/>
                </a:solidFill>
                <a:latin typeface="Georgia" panose="02040502050405020303" pitchFamily="18" charset="0"/>
                <a:cs typeface="Arial" pitchFamily="34" charset="-120"/>
              </a:rPr>
              <a:t>Mental-health symptoms may be occurring alongside a different underlying way of processing and regulating</a:t>
            </a:r>
          </a:p>
          <a:p>
            <a:pPr marL="342900" indent="-342900">
              <a:lnSpc>
                <a:spcPct val="170000"/>
              </a:lnSpc>
              <a:spcAft>
                <a:spcPts val="600"/>
              </a:spcAft>
              <a:buSzPct val="115000"/>
              <a:buFont typeface="Wingdings" pitchFamily="2" charset="2"/>
              <a:buChar char="§"/>
            </a:pPr>
            <a:endParaRPr lang="en-US" sz="2400" dirty="0">
              <a:solidFill>
                <a:srgbClr val="1C2A2E"/>
              </a:solidFill>
              <a:latin typeface="Georgia" panose="02040502050405020303" pitchFamily="18" charset="0"/>
              <a:cs typeface="Arial" pitchFamily="34" charset="-120"/>
            </a:endParaRPr>
          </a:p>
          <a:p>
            <a:pPr marL="342900" indent="-342900">
              <a:lnSpc>
                <a:spcPct val="170000"/>
              </a:lnSpc>
              <a:spcAft>
                <a:spcPts val="600"/>
              </a:spcAft>
              <a:buSzPct val="115000"/>
              <a:buFont typeface="Wingdings" pitchFamily="2" charset="2"/>
              <a:buChar char="§"/>
            </a:pPr>
            <a:endParaRPr lang="en-US" sz="2400" dirty="0">
              <a:solidFill>
                <a:srgbClr val="1C2A2E"/>
              </a:solidFill>
              <a:latin typeface="Georgia" panose="02040502050405020303" pitchFamily="18" charset="0"/>
              <a:cs typeface="Arial" pitchFamily="34" charset="-120"/>
            </a:endParaRPr>
          </a:p>
          <a:p>
            <a:pPr marL="342900" indent="-342900">
              <a:lnSpc>
                <a:spcPct val="170000"/>
              </a:lnSpc>
              <a:spcAft>
                <a:spcPts val="600"/>
              </a:spcAft>
              <a:buSzPct val="115000"/>
              <a:buFont typeface="Wingdings" pitchFamily="2" charset="2"/>
              <a:buChar char="§"/>
            </a:pPr>
            <a:endParaRPr lang="en-US" sz="2400" dirty="0">
              <a:solidFill>
                <a:srgbClr val="1C2A2E"/>
              </a:solidFill>
              <a:latin typeface="Georgia" panose="02040502050405020303" pitchFamily="18" charset="0"/>
              <a:cs typeface="Arial" pitchFamily="34" charset="-120"/>
            </a:endParaRPr>
          </a:p>
          <a:p>
            <a:pPr marL="342900" indent="-342900">
              <a:lnSpc>
                <a:spcPct val="170000"/>
              </a:lnSpc>
              <a:spcAft>
                <a:spcPts val="600"/>
              </a:spcAft>
              <a:buSzPct val="115000"/>
              <a:buFont typeface="Wingdings" pitchFamily="2" charset="2"/>
              <a:buChar char="§"/>
            </a:pPr>
            <a:endParaRPr lang="en-US" sz="2400" dirty="0">
              <a:solidFill>
                <a:srgbClr val="1C2A2E"/>
              </a:solidFill>
              <a:latin typeface="Georgia" panose="02040502050405020303" pitchFamily="18" charset="0"/>
              <a:cs typeface="Arial" pitchFamily="34" charset="-120"/>
            </a:endParaRPr>
          </a:p>
        </p:txBody>
      </p:sp>
      <p:sp>
        <p:nvSpPr>
          <p:cNvPr id="23" name="Shape 21"/>
          <p:cNvSpPr/>
          <p:nvPr/>
        </p:nvSpPr>
        <p:spPr>
          <a:xfrm>
            <a:off x="1143000" y="8275317"/>
            <a:ext cx="16002000" cy="1021096"/>
          </a:xfrm>
          <a:prstGeom prst="rect">
            <a:avLst/>
          </a:prstGeom>
          <a:solidFill>
            <a:srgbClr val="1C565D"/>
          </a:solidFill>
          <a:ln/>
        </p:spPr>
        <p:txBody>
          <a:bodyPr/>
          <a:lstStyle/>
          <a:p>
            <a:endParaRPr lang="en-US">
              <a:latin typeface="Georgia" panose="02040502050405020303" pitchFamily="18" charset="0"/>
            </a:endParaRPr>
          </a:p>
        </p:txBody>
      </p:sp>
      <p:sp>
        <p:nvSpPr>
          <p:cNvPr id="24" name="Text 22"/>
          <p:cNvSpPr/>
          <p:nvPr/>
        </p:nvSpPr>
        <p:spPr>
          <a:xfrm>
            <a:off x="1524000" y="8561067"/>
            <a:ext cx="15720060" cy="449596"/>
          </a:xfrm>
          <a:prstGeom prst="rect">
            <a:avLst/>
          </a:prstGeom>
          <a:noFill/>
          <a:ln/>
        </p:spPr>
        <p:txBody>
          <a:bodyPr wrap="square" lIns="25400" tIns="25400" rIns="25400" bIns="25400" rtlCol="0" anchor="t">
            <a:normAutofit/>
          </a:bodyPr>
          <a:lstStyle/>
          <a:p>
            <a:pPr marL="0" indent="0" algn="l">
              <a:lnSpc>
                <a:spcPct val="118800"/>
              </a:lnSpc>
              <a:buNone/>
            </a:pPr>
            <a:r>
              <a:rPr lang="en-US" sz="2400" dirty="0">
                <a:solidFill>
                  <a:srgbClr val="FFFFFF"/>
                </a:solidFill>
                <a:latin typeface="Georgia" panose="02040502050405020303" pitchFamily="18" charset="0"/>
                <a:ea typeface="Georgia" pitchFamily="34" charset="-122"/>
                <a:cs typeface="Georgia" pitchFamily="34" charset="-120"/>
              </a:rPr>
              <a:t>Is there another way of understanding what I am seeing?</a:t>
            </a:r>
            <a:endParaRPr lang="en-US" sz="2400" dirty="0">
              <a:latin typeface="Georgia" panose="02040502050405020303" pitchFamily="18" charset="0"/>
            </a:endParaRPr>
          </a:p>
        </p:txBody>
      </p:sp>
      <p:sp>
        <p:nvSpPr>
          <p:cNvPr id="25" name="Text 23"/>
          <p:cNvSpPr/>
          <p:nvPr/>
        </p:nvSpPr>
        <p:spPr>
          <a:xfrm>
            <a:off x="1143000" y="9565724"/>
            <a:ext cx="8725123" cy="302202"/>
          </a:xfrm>
          <a:prstGeom prst="rect">
            <a:avLst/>
          </a:prstGeom>
          <a:noFill/>
          <a:ln/>
        </p:spPr>
        <p:txBody>
          <a:bodyPr wrap="none" lIns="25400" tIns="25400" rIns="25400" bIns="25400" rtlCol="0" anchor="t">
            <a:normAutofit lnSpcReduction="10000"/>
          </a:bodyPr>
          <a:lstStyle/>
          <a:p>
            <a:pPr marL="0" indent="0" algn="l">
              <a:buNone/>
            </a:pPr>
            <a:r>
              <a:rPr lang="en-US" sz="1800" b="1" kern="0" spc="72" dirty="0">
                <a:solidFill>
                  <a:srgbClr val="55676C"/>
                </a:solidFill>
                <a:latin typeface="Georgia" panose="02040502050405020303" pitchFamily="18" charset="0"/>
                <a:ea typeface="Arial" pitchFamily="34" charset="-122"/>
                <a:cs typeface="Arial" pitchFamily="34" charset="-120"/>
              </a:rPr>
              <a:t>Understanding Neurodivergence — In a Counselling and Family Context</a:t>
            </a:r>
            <a:endParaRPr lang="en-US" sz="1800" dirty="0">
              <a:latin typeface="Georgia" panose="02040502050405020303" pitchFamily="18" charset="0"/>
            </a:endParaRPr>
          </a:p>
        </p:txBody>
      </p:sp>
      <p:sp>
        <p:nvSpPr>
          <p:cNvPr id="26" name="Shape 24"/>
          <p:cNvSpPr/>
          <p:nvPr/>
        </p:nvSpPr>
        <p:spPr>
          <a:xfrm>
            <a:off x="16624777" y="9640612"/>
            <a:ext cx="114259" cy="114259"/>
          </a:xfrm>
          <a:prstGeom prst="rect">
            <a:avLst/>
          </a:prstGeom>
          <a:solidFill>
            <a:srgbClr val="1C565D"/>
          </a:solidFill>
          <a:ln/>
        </p:spPr>
        <p:txBody>
          <a:bodyPr/>
          <a:lstStyle/>
          <a:p>
            <a:endParaRPr lang="en-US">
              <a:latin typeface="Georgia" panose="02040502050405020303" pitchFamily="18" charset="0"/>
            </a:endParaRPr>
          </a:p>
        </p:txBody>
      </p:sp>
      <p:sp>
        <p:nvSpPr>
          <p:cNvPr id="27" name="Text 25"/>
          <p:cNvSpPr/>
          <p:nvPr/>
        </p:nvSpPr>
        <p:spPr>
          <a:xfrm>
            <a:off x="16872374" y="9570054"/>
            <a:ext cx="348825" cy="293543"/>
          </a:xfrm>
          <a:prstGeom prst="rect">
            <a:avLst/>
          </a:prstGeom>
          <a:noFill/>
          <a:ln/>
        </p:spPr>
        <p:txBody>
          <a:bodyPr wrap="none" lIns="0" tIns="0" rIns="0" bIns="0" rtlCol="0" anchor="t">
            <a:normAutofit/>
          </a:bodyPr>
          <a:lstStyle/>
          <a:p>
            <a:pPr marL="0" indent="0" algn="l">
              <a:buNone/>
            </a:pPr>
            <a:r>
              <a:rPr lang="en-US" sz="1800" b="1" kern="0" spc="72" dirty="0">
                <a:solidFill>
                  <a:srgbClr val="1C565D"/>
                </a:solidFill>
                <a:latin typeface="Georgia" panose="02040502050405020303" pitchFamily="18" charset="0"/>
                <a:ea typeface="Arial" pitchFamily="34" charset="-122"/>
                <a:cs typeface="Arial" pitchFamily="34" charset="-120"/>
              </a:rPr>
              <a:t>14</a:t>
            </a:r>
            <a:endParaRPr lang="en-US" sz="1800" dirty="0">
              <a:latin typeface="Georgia" panose="020405020504050203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bg/>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bldP spid="10" grpId="0" build="p" animBg="1"/>
      <p:bldP spid="23" grpId="0" animBg="1"/>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66673" cy="10287000"/>
          </a:xfrm>
          <a:prstGeom prst="rect">
            <a:avLst/>
          </a:prstGeom>
          <a:solidFill>
            <a:srgbClr val="1C565D"/>
          </a:solidFill>
          <a:ln/>
        </p:spPr>
        <p:txBody>
          <a:bodyPr/>
          <a:lstStyle/>
          <a:p>
            <a:endParaRPr lang="en-US">
              <a:latin typeface="Georgia" panose="02040502050405020303" pitchFamily="18" charset="0"/>
            </a:endParaRPr>
          </a:p>
        </p:txBody>
      </p:sp>
      <p:sp>
        <p:nvSpPr>
          <p:cNvPr id="3" name="Shape 1"/>
          <p:cNvSpPr/>
          <p:nvPr/>
        </p:nvSpPr>
        <p:spPr>
          <a:xfrm>
            <a:off x="0" y="0"/>
            <a:ext cx="266673" cy="3394702"/>
          </a:xfrm>
          <a:prstGeom prst="rect">
            <a:avLst/>
          </a:prstGeom>
          <a:solidFill>
            <a:srgbClr val="528B8E"/>
          </a:solidFill>
          <a:ln/>
        </p:spPr>
        <p:txBody>
          <a:bodyPr/>
          <a:lstStyle/>
          <a:p>
            <a:endParaRPr lang="en-US">
              <a:latin typeface="Georgia" panose="02040502050405020303" pitchFamily="18" charset="0"/>
            </a:endParaRPr>
          </a:p>
        </p:txBody>
      </p:sp>
      <p:sp>
        <p:nvSpPr>
          <p:cNvPr id="4" name="Shape 2"/>
          <p:cNvSpPr/>
          <p:nvPr/>
        </p:nvSpPr>
        <p:spPr>
          <a:xfrm>
            <a:off x="1143000" y="994037"/>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5" name="Text 3"/>
          <p:cNvSpPr/>
          <p:nvPr/>
        </p:nvSpPr>
        <p:spPr>
          <a:xfrm>
            <a:off x="1847769" y="880589"/>
            <a:ext cx="2453256" cy="293543"/>
          </a:xfrm>
          <a:prstGeom prst="rect">
            <a:avLst/>
          </a:prstGeom>
          <a:noFill/>
          <a:ln/>
        </p:spPr>
        <p:txBody>
          <a:bodyPr wrap="square" lIns="0" tIns="0" rIns="0" bIns="0" rtlCol="0" anchor="t">
            <a:normAutofit fontScale="925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CASE EXERCISE</a:t>
            </a:r>
            <a:endParaRPr lang="en-US" sz="1800" dirty="0">
              <a:latin typeface="Georgia" panose="02040502050405020303" pitchFamily="18" charset="0"/>
            </a:endParaRPr>
          </a:p>
        </p:txBody>
      </p:sp>
      <p:sp>
        <p:nvSpPr>
          <p:cNvPr id="6" name="Text 4"/>
          <p:cNvSpPr/>
          <p:nvPr/>
        </p:nvSpPr>
        <p:spPr>
          <a:xfrm>
            <a:off x="1143000" y="1387958"/>
            <a:ext cx="16554450" cy="646131"/>
          </a:xfrm>
          <a:prstGeom prst="rect">
            <a:avLst/>
          </a:prstGeom>
          <a:noFill/>
          <a:ln/>
        </p:spPr>
        <p:txBody>
          <a:bodyPr wrap="square" lIns="25400" tIns="25400" rIns="25400" bIns="25400" rtlCol="0" anchor="t">
            <a:normAutofit lnSpcReduction="10000"/>
          </a:bodyPr>
          <a:lstStyle/>
          <a:p>
            <a:pPr marL="0" indent="0" algn="l">
              <a:lnSpc>
                <a:spcPct val="100320"/>
              </a:lnSpc>
              <a:buNone/>
            </a:pPr>
            <a:r>
              <a:rPr lang="en-US" sz="4200" kern="0" spc="-34" dirty="0">
                <a:solidFill>
                  <a:srgbClr val="1C2A2E"/>
                </a:solidFill>
                <a:latin typeface="Georgia" panose="02040502050405020303" pitchFamily="18" charset="0"/>
                <a:ea typeface="Georgia" pitchFamily="34" charset="-122"/>
                <a:cs typeface="Georgia" pitchFamily="34" charset="-120"/>
              </a:rPr>
              <a:t>Case Exercise: What Might We Be Seeing?</a:t>
            </a:r>
            <a:endParaRPr lang="en-US" sz="4200" dirty="0">
              <a:latin typeface="Georgia" panose="02040502050405020303" pitchFamily="18" charset="0"/>
            </a:endParaRPr>
          </a:p>
        </p:txBody>
      </p:sp>
      <p:sp>
        <p:nvSpPr>
          <p:cNvPr id="7" name="Shape 5"/>
          <p:cNvSpPr/>
          <p:nvPr/>
        </p:nvSpPr>
        <p:spPr>
          <a:xfrm>
            <a:off x="1143000" y="3122143"/>
            <a:ext cx="7772413" cy="5467201"/>
          </a:xfrm>
          <a:prstGeom prst="rect">
            <a:avLst/>
          </a:prstGeom>
          <a:solidFill>
            <a:srgbClr val="1C565D"/>
          </a:solidFill>
          <a:ln/>
        </p:spPr>
        <p:txBody>
          <a:bodyPr/>
          <a:lstStyle/>
          <a:p>
            <a:endParaRPr lang="en-US">
              <a:latin typeface="Georgia" panose="02040502050405020303" pitchFamily="18" charset="0"/>
            </a:endParaRPr>
          </a:p>
        </p:txBody>
      </p:sp>
      <p:sp>
        <p:nvSpPr>
          <p:cNvPr id="8" name="Text 6"/>
          <p:cNvSpPr/>
          <p:nvPr/>
        </p:nvSpPr>
        <p:spPr>
          <a:xfrm>
            <a:off x="1600173" y="3541230"/>
            <a:ext cx="7543874" cy="254577"/>
          </a:xfrm>
          <a:prstGeom prst="rect">
            <a:avLst/>
          </a:prstGeom>
          <a:noFill/>
          <a:ln/>
        </p:spPr>
        <p:txBody>
          <a:bodyPr wrap="square" lIns="25400" tIns="25400" rIns="25400" bIns="25400" rtlCol="0" anchor="t">
            <a:normAutofit fontScale="92500" lnSpcReduction="10000"/>
          </a:bodyPr>
          <a:lstStyle/>
          <a:p>
            <a:pPr marL="0" indent="0" algn="l">
              <a:buNone/>
            </a:pPr>
            <a:r>
              <a:rPr lang="en-US" sz="1500" b="1" kern="0" spc="210" dirty="0">
                <a:solidFill>
                  <a:srgbClr val="FFFFFF">
                    <a:alpha val="85000"/>
                  </a:srgbClr>
                </a:solidFill>
                <a:latin typeface="Georgia" panose="02040502050405020303" pitchFamily="18" charset="0"/>
                <a:ea typeface="Arial" pitchFamily="34" charset="-122"/>
                <a:cs typeface="Arial" pitchFamily="34" charset="-120"/>
              </a:rPr>
              <a:t>VIGNETTE</a:t>
            </a:r>
            <a:endParaRPr lang="en-US" sz="1500" dirty="0">
              <a:latin typeface="Georgia" panose="02040502050405020303" pitchFamily="18" charset="0"/>
            </a:endParaRPr>
          </a:p>
        </p:txBody>
      </p:sp>
      <p:sp>
        <p:nvSpPr>
          <p:cNvPr id="9" name="Text 7"/>
          <p:cNvSpPr/>
          <p:nvPr/>
        </p:nvSpPr>
        <p:spPr>
          <a:xfrm>
            <a:off x="1600173" y="3967217"/>
            <a:ext cx="7063809" cy="4203055"/>
          </a:xfrm>
          <a:prstGeom prst="rect">
            <a:avLst/>
          </a:prstGeom>
          <a:noFill/>
          <a:ln/>
        </p:spPr>
        <p:txBody>
          <a:bodyPr wrap="square" lIns="25400" tIns="25400" rIns="25400" bIns="25400" rtlCol="0" anchor="t">
            <a:normAutofit/>
          </a:bodyPr>
          <a:lstStyle/>
          <a:p>
            <a:pPr marL="0" indent="0" algn="l">
              <a:lnSpc>
                <a:spcPct val="123200"/>
              </a:lnSpc>
              <a:buNone/>
            </a:pPr>
            <a:r>
              <a:rPr lang="en-US" sz="2100" dirty="0">
                <a:solidFill>
                  <a:srgbClr val="FFFFFF"/>
                </a:solidFill>
                <a:latin typeface="Georgia" panose="02040502050405020303" pitchFamily="18" charset="0"/>
                <a:ea typeface="Arial" pitchFamily="34" charset="-122"/>
                <a:cs typeface="Arial" pitchFamily="34" charset="-120"/>
              </a:rPr>
              <a:t>A 16-year-old is highly articulate, academically strong, and intensely interested in a few areas. At home, they struggle with transitions, procrastinate on routine tasks, become highly emotional when plans change, and can spend hours focused on preferred interests. Teachers describe them as capable and engaged, although assignments are often completed at the last minute. They have begun describing themselves as exhausted and “different,” and parents report increasing conflict around expectations and follow-through.</a:t>
            </a:r>
            <a:endParaRPr lang="en-US" sz="2100" dirty="0">
              <a:latin typeface="Georgia" panose="02040502050405020303" pitchFamily="18" charset="0"/>
            </a:endParaRPr>
          </a:p>
        </p:txBody>
      </p:sp>
      <p:sp>
        <p:nvSpPr>
          <p:cNvPr id="10" name="Shape 8"/>
          <p:cNvSpPr/>
          <p:nvPr/>
        </p:nvSpPr>
        <p:spPr>
          <a:xfrm>
            <a:off x="9372586" y="3225506"/>
            <a:ext cx="533346" cy="28548"/>
          </a:xfrm>
          <a:prstGeom prst="rect">
            <a:avLst/>
          </a:prstGeom>
          <a:solidFill>
            <a:srgbClr val="1C565D"/>
          </a:solidFill>
          <a:ln/>
        </p:spPr>
        <p:txBody>
          <a:bodyPr/>
          <a:lstStyle/>
          <a:p>
            <a:endParaRPr lang="en-US">
              <a:latin typeface="Georgia" panose="02040502050405020303" pitchFamily="18" charset="0"/>
            </a:endParaRPr>
          </a:p>
        </p:txBody>
      </p:sp>
      <p:sp>
        <p:nvSpPr>
          <p:cNvPr id="11" name="Text 9"/>
          <p:cNvSpPr/>
          <p:nvPr/>
        </p:nvSpPr>
        <p:spPr>
          <a:xfrm>
            <a:off x="10077355" y="3112058"/>
            <a:ext cx="1612039" cy="293543"/>
          </a:xfrm>
          <a:prstGeom prst="rect">
            <a:avLst/>
          </a:prstGeom>
          <a:noFill/>
          <a:ln/>
        </p:spPr>
        <p:txBody>
          <a:bodyPr wrap="square" lIns="0" tIns="0" rIns="0" bIns="0" rtlCol="0" anchor="t">
            <a:normAutofit fontScale="92500"/>
          </a:bodyPr>
          <a:lstStyle/>
          <a:p>
            <a:pPr marL="0" indent="0" algn="l">
              <a:buNone/>
            </a:pPr>
            <a:r>
              <a:rPr lang="en-US" sz="1800" b="1" kern="0" spc="324" dirty="0">
                <a:solidFill>
                  <a:srgbClr val="1C565D"/>
                </a:solidFill>
                <a:latin typeface="Georgia" panose="02040502050405020303" pitchFamily="18" charset="0"/>
                <a:ea typeface="Arial" pitchFamily="34" charset="-122"/>
                <a:cs typeface="Arial" pitchFamily="34" charset="-120"/>
              </a:rPr>
              <a:t>CONSIDER</a:t>
            </a:r>
            <a:endParaRPr lang="en-US" sz="1800" dirty="0">
              <a:latin typeface="Georgia" panose="02040502050405020303" pitchFamily="18" charset="0"/>
            </a:endParaRPr>
          </a:p>
        </p:txBody>
      </p:sp>
      <p:sp>
        <p:nvSpPr>
          <p:cNvPr id="13" name="Text 11"/>
          <p:cNvSpPr/>
          <p:nvPr/>
        </p:nvSpPr>
        <p:spPr>
          <a:xfrm>
            <a:off x="9420225" y="3668518"/>
            <a:ext cx="7724775" cy="4931825"/>
          </a:xfrm>
          <a:prstGeom prst="rect">
            <a:avLst/>
          </a:prstGeom>
          <a:noFill/>
          <a:ln/>
        </p:spPr>
        <p:txBody>
          <a:bodyPr wrap="square" lIns="0" tIns="0" rIns="0" bIns="0" rtlCol="0" anchor="t">
            <a:normAutofit/>
          </a:bodyPr>
          <a:lstStyle/>
          <a:p>
            <a:pPr marL="342900" indent="-342900" algn="l">
              <a:lnSpc>
                <a:spcPct val="150000"/>
              </a:lnSpc>
              <a:spcAft>
                <a:spcPts val="600"/>
              </a:spcAft>
              <a:buSzPct val="115000"/>
              <a:buFont typeface="Wingdings" pitchFamily="2" charset="2"/>
              <a:buChar char="§"/>
            </a:pPr>
            <a:r>
              <a:rPr lang="en-US" sz="2025" dirty="0">
                <a:solidFill>
                  <a:srgbClr val="1C2A2E"/>
                </a:solidFill>
                <a:latin typeface="Georgia" panose="02040502050405020303" pitchFamily="18" charset="0"/>
                <a:ea typeface="Arial" pitchFamily="34" charset="-122"/>
                <a:cs typeface="Arial" pitchFamily="34" charset="-120"/>
              </a:rPr>
              <a:t>What stands out?</a:t>
            </a:r>
          </a:p>
          <a:p>
            <a:pPr marL="342900" indent="-342900">
              <a:lnSpc>
                <a:spcPct val="150000"/>
              </a:lnSpc>
              <a:spcAft>
                <a:spcPts val="600"/>
              </a:spcAft>
              <a:buSzPct val="115000"/>
              <a:buFont typeface="Wingdings" pitchFamily="2" charset="2"/>
              <a:buChar char="§"/>
            </a:pPr>
            <a:r>
              <a:rPr lang="en-US" sz="2025" dirty="0">
                <a:solidFill>
                  <a:srgbClr val="1C2A2E"/>
                </a:solidFill>
                <a:latin typeface="Georgia" panose="02040502050405020303" pitchFamily="18" charset="0"/>
                <a:ea typeface="Arial" pitchFamily="34" charset="-122"/>
                <a:cs typeface="Arial" pitchFamily="34" charset="-120"/>
              </a:rPr>
              <a:t>What might be getting misinterpreted?</a:t>
            </a:r>
          </a:p>
          <a:p>
            <a:pPr marL="342900" indent="-342900">
              <a:lnSpc>
                <a:spcPct val="150000"/>
              </a:lnSpc>
              <a:spcAft>
                <a:spcPts val="600"/>
              </a:spcAft>
              <a:buSzPct val="115000"/>
              <a:buFont typeface="Wingdings" pitchFamily="2" charset="2"/>
              <a:buChar char="§"/>
            </a:pPr>
            <a:r>
              <a:rPr lang="en-US" sz="2025" dirty="0">
                <a:solidFill>
                  <a:srgbClr val="1C2A2E"/>
                </a:solidFill>
                <a:latin typeface="Georgia" panose="02040502050405020303" pitchFamily="18" charset="0"/>
                <a:ea typeface="Arial" pitchFamily="34" charset="-122"/>
                <a:cs typeface="Arial" pitchFamily="34" charset="-120"/>
              </a:rPr>
              <a:t>What would you want to understand more fully?</a:t>
            </a:r>
          </a:p>
          <a:p>
            <a:pPr marL="342900" indent="-342900">
              <a:lnSpc>
                <a:spcPct val="150000"/>
              </a:lnSpc>
              <a:spcAft>
                <a:spcPts val="600"/>
              </a:spcAft>
              <a:buSzPct val="115000"/>
              <a:buFont typeface="Wingdings" pitchFamily="2" charset="2"/>
              <a:buChar char="§"/>
            </a:pPr>
            <a:r>
              <a:rPr lang="en-US" sz="2025" dirty="0">
                <a:solidFill>
                  <a:srgbClr val="1C2A2E"/>
                </a:solidFill>
                <a:latin typeface="Georgia" panose="02040502050405020303" pitchFamily="18" charset="0"/>
                <a:ea typeface="Arial" pitchFamily="34" charset="-122"/>
                <a:cs typeface="Arial" pitchFamily="34" charset="-120"/>
              </a:rPr>
              <a:t>What could reflect giftedness, ADHD, autistic traits, anxiety, or overlap?</a:t>
            </a:r>
          </a:p>
          <a:p>
            <a:pPr marL="342900" indent="-342900">
              <a:lnSpc>
                <a:spcPct val="150000"/>
              </a:lnSpc>
              <a:spcAft>
                <a:spcPts val="600"/>
              </a:spcAft>
              <a:buSzPct val="115000"/>
              <a:buFont typeface="Wingdings" pitchFamily="2" charset="2"/>
              <a:buChar char="§"/>
            </a:pPr>
            <a:r>
              <a:rPr lang="en-US" sz="2025" dirty="0">
                <a:solidFill>
                  <a:srgbClr val="1C2A2E"/>
                </a:solidFill>
                <a:latin typeface="Georgia" panose="02040502050405020303" pitchFamily="18" charset="0"/>
                <a:ea typeface="Arial" pitchFamily="34" charset="-122"/>
                <a:cs typeface="Arial" pitchFamily="34" charset="-120"/>
              </a:rPr>
              <a:t>What might be happening for the individual?</a:t>
            </a:r>
          </a:p>
          <a:p>
            <a:pPr marL="342900" indent="-342900">
              <a:lnSpc>
                <a:spcPct val="150000"/>
              </a:lnSpc>
              <a:spcAft>
                <a:spcPts val="600"/>
              </a:spcAft>
              <a:buSzPct val="115000"/>
              <a:buFont typeface="Wingdings" pitchFamily="2" charset="2"/>
              <a:buChar char="§"/>
            </a:pPr>
            <a:r>
              <a:rPr lang="en-US" sz="2025" dirty="0">
                <a:solidFill>
                  <a:srgbClr val="1C2A2E"/>
                </a:solidFill>
                <a:latin typeface="Georgia" panose="02040502050405020303" pitchFamily="18" charset="0"/>
                <a:ea typeface="Arial" pitchFamily="34" charset="-122"/>
                <a:cs typeface="Arial" pitchFamily="34" charset="-120"/>
              </a:rPr>
              <a:t>What might be happening relationally?</a:t>
            </a:r>
          </a:p>
          <a:p>
            <a:pPr marL="342900" indent="-342900">
              <a:lnSpc>
                <a:spcPct val="150000"/>
              </a:lnSpc>
              <a:spcAft>
                <a:spcPts val="600"/>
              </a:spcAft>
              <a:buSzPct val="115000"/>
              <a:buFont typeface="Wingdings" pitchFamily="2" charset="2"/>
              <a:buChar char="§"/>
            </a:pPr>
            <a:r>
              <a:rPr lang="en-US" sz="2025" dirty="0">
                <a:solidFill>
                  <a:srgbClr val="1C2A2E"/>
                </a:solidFill>
                <a:latin typeface="Georgia" panose="02040502050405020303" pitchFamily="18" charset="0"/>
                <a:ea typeface="Arial" pitchFamily="34" charset="-122"/>
                <a:cs typeface="Arial" pitchFamily="34" charset="-120"/>
              </a:rPr>
              <a:t>What information would help you formulate this more accurately?</a:t>
            </a:r>
            <a:endParaRPr lang="en-US" sz="2025" dirty="0">
              <a:latin typeface="Georgia" panose="02040502050405020303" pitchFamily="18" charset="0"/>
            </a:endParaRPr>
          </a:p>
          <a:p>
            <a:pPr>
              <a:lnSpc>
                <a:spcPct val="150000"/>
              </a:lnSpc>
              <a:spcAft>
                <a:spcPts val="600"/>
              </a:spcAft>
              <a:buSzPct val="115000"/>
            </a:pPr>
            <a:endParaRPr lang="en-US" sz="2025" dirty="0">
              <a:latin typeface="Georgia" panose="02040502050405020303" pitchFamily="18" charset="0"/>
            </a:endParaRPr>
          </a:p>
        </p:txBody>
      </p:sp>
      <p:sp>
        <p:nvSpPr>
          <p:cNvPr id="26" name="Text 24"/>
          <p:cNvSpPr/>
          <p:nvPr/>
        </p:nvSpPr>
        <p:spPr>
          <a:xfrm>
            <a:off x="1143000" y="9565724"/>
            <a:ext cx="8725123" cy="302202"/>
          </a:xfrm>
          <a:prstGeom prst="rect">
            <a:avLst/>
          </a:prstGeom>
          <a:noFill/>
          <a:ln/>
        </p:spPr>
        <p:txBody>
          <a:bodyPr wrap="none" lIns="25400" tIns="25400" rIns="25400" bIns="25400" rtlCol="0" anchor="t">
            <a:normAutofit lnSpcReduction="10000"/>
          </a:bodyPr>
          <a:lstStyle/>
          <a:p>
            <a:pPr marL="0" indent="0" algn="l">
              <a:buNone/>
            </a:pPr>
            <a:r>
              <a:rPr lang="en-US" sz="1800" b="1" kern="0" spc="72" dirty="0">
                <a:solidFill>
                  <a:srgbClr val="55676C"/>
                </a:solidFill>
                <a:latin typeface="Georgia" panose="02040502050405020303" pitchFamily="18" charset="0"/>
                <a:ea typeface="Arial" pitchFamily="34" charset="-122"/>
                <a:cs typeface="Arial" pitchFamily="34" charset="-120"/>
              </a:rPr>
              <a:t>Understanding Neurodivergence — In a Counselling and Family Context</a:t>
            </a:r>
            <a:endParaRPr lang="en-US" sz="1800" dirty="0">
              <a:latin typeface="Georgia" panose="02040502050405020303" pitchFamily="18" charset="0"/>
            </a:endParaRPr>
          </a:p>
        </p:txBody>
      </p:sp>
      <p:sp>
        <p:nvSpPr>
          <p:cNvPr id="27" name="Shape 25"/>
          <p:cNvSpPr/>
          <p:nvPr/>
        </p:nvSpPr>
        <p:spPr>
          <a:xfrm>
            <a:off x="16624777" y="9640612"/>
            <a:ext cx="114259" cy="114259"/>
          </a:xfrm>
          <a:prstGeom prst="rect">
            <a:avLst/>
          </a:prstGeom>
          <a:solidFill>
            <a:srgbClr val="1C565D"/>
          </a:solidFill>
          <a:ln/>
        </p:spPr>
        <p:txBody>
          <a:bodyPr/>
          <a:lstStyle/>
          <a:p>
            <a:endParaRPr lang="en-US">
              <a:latin typeface="Georgia" panose="02040502050405020303" pitchFamily="18" charset="0"/>
            </a:endParaRPr>
          </a:p>
        </p:txBody>
      </p:sp>
      <p:sp>
        <p:nvSpPr>
          <p:cNvPr id="28" name="Text 26"/>
          <p:cNvSpPr/>
          <p:nvPr/>
        </p:nvSpPr>
        <p:spPr>
          <a:xfrm>
            <a:off x="16872374" y="9570054"/>
            <a:ext cx="348825" cy="293543"/>
          </a:xfrm>
          <a:prstGeom prst="rect">
            <a:avLst/>
          </a:prstGeom>
          <a:noFill/>
          <a:ln/>
        </p:spPr>
        <p:txBody>
          <a:bodyPr wrap="none" lIns="0" tIns="0" rIns="0" bIns="0" rtlCol="0" anchor="t">
            <a:normAutofit/>
          </a:bodyPr>
          <a:lstStyle/>
          <a:p>
            <a:pPr marL="0" indent="0" algn="l">
              <a:buNone/>
            </a:pPr>
            <a:r>
              <a:rPr lang="en-US" sz="1800" b="1" kern="0" spc="72" dirty="0">
                <a:solidFill>
                  <a:srgbClr val="1C565D"/>
                </a:solidFill>
                <a:latin typeface="Georgia" panose="02040502050405020303" pitchFamily="18" charset="0"/>
                <a:ea typeface="Arial" pitchFamily="34" charset="-122"/>
                <a:cs typeface="Arial" pitchFamily="34" charset="-120"/>
              </a:rPr>
              <a:t>15</a:t>
            </a:r>
            <a:endParaRPr lang="en-US" sz="1800" dirty="0">
              <a:latin typeface="Georgia" panose="020405020504050203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3" grpId="0" build="p"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2137</Words>
  <Application>Microsoft Macintosh PowerPoint</Application>
  <PresentationFormat>Custom</PresentationFormat>
  <Paragraphs>234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Georgia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Bruce Banner</cp:lastModifiedBy>
  <cp:revision>17</cp:revision>
  <dcterms:created xsi:type="dcterms:W3CDTF">2026-09-16T04:22:48Z</dcterms:created>
  <dcterms:modified xsi:type="dcterms:W3CDTF">2026-09-17T05:58:09Z</dcterms:modified>
</cp:coreProperties>
</file>